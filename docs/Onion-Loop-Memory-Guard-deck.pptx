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" name="Shape 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Onion Loop Memory Guard: permission-aware memory for AI agents. Built for the BasedAI Permission-Aware Memory Challenge. One line: access is computed from the source graph at read time, never copied onto a memory, never decided by an LLM. Point at the live links - it runs in a browser, no install.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" name="Shape 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Four failure modes, all the same root cause: a memory system that treats a human as a bag of keywords and checks permission too late, in the app layer, after retrieval. The leak isn't in generation - it's in uncontrolled retrieval of derived memory.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5" name="Shape 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Ground the judges: OWASP published the Top 10 for Agentic Applications in Dec 2025. Memory poisoning and privilege abuse are top-tier. The Gravitee State of AI Agent Security 2026 report: 88% of orgs already hit. And OWASP's recommended control - compute access from authenticated sources at retrieval - is literally what Onion Loop does.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" name="Shape 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one-sentence thesis. Every other memory tool ranks by relevance then tries to filter. That's backwards: top-k scoring can leak a secret into the results. We filter by lineage first, rank second, and never ask a model 'should this be visible?'.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7" name="Shape 1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Two paths. The classifier can be as smart as you like - it runs once, at write time, offline. The read path is pure set logic: resolve lineage, intersect ACLs clock-aware, THEN rank by relevance, then write the audit entry. The read path imports nothing that calls a model.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reason revocation is free. Every derived memory stores only its lineage. Its audience is recomputed on every read as the per-source intersection. Revoke one source and every summary, embedding and note derived from it returns empty on the very next read - no cache, no propagation job, no stale window.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1" name="Shape 22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money moment (beat 3). Retrieving as Alice on the board, revoke the Q3 board deck source - do nothing to the summary - and every AI derivative of it goes dark for everyone, with an audit entry explaining why. No LLM decided the matrix on the right; it's the intersection of sources, computed in microseconds. Carol the contractor gets only the public memory - the rest are opaque tombstones she can't even tell exist.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answer to 'is it really a memory system, or just an ACL check?'. It runs in front of a genuine embedding + cosine nearest-neighbour search. The punchline: similarity will rank a confidential board deck as the top hit for a budget query - so you cannot let relevance decide visibility. The gate keeps it for the board member, drops it for the contractor, after the search, deterministically. Local zero-key embedder by default, OpenAI if a key is set, storage-agnostic.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2" name="Shape 2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Don't just claim it - the judging notes map every BasedAI requirement to a test and a benchmark. All five core requirements plus both bonuses (temporal access, inference prevention) are done. 39 tests, zero dependencies. Invite them to verify in 60 seconds - node --test, the benchmark, the vector gate, the live demo.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4" name="Shape 3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category contrast - true of every relevance-first memory layer. Note the two that matter most for enterprise: derived memory inherits source ACLs by lineage (not 'inherits nothing and leaks'), and the audit is hash-chained and Hedera-anchored - verify me, not trust me. If a judge asks how this differs from other memory-governance entries: it gates a real semantic search, the audit is tamper-evident and externally anchored, it does temporal access, and it's storage-agnostic - not a single-vertical prototype.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46" name="Shape 3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Zoom out. This is the safety layer that lets autonomous agents into finance, health, government - and, close to home, real-world assets and tokenised ownership. Roadmap is honest and small: turn the engine into an API/SDK, run pilots in regulated data, ship connectors for the memory stacks teams already use.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8" name="Shape 3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on the frame and the live link. The whole pitch in three words: secure memory, deterministic access, accountable AI. Then hand them the URL - it runs in a browser, they can revoke a source themselves and watch the summaries vanish. Verify me, not trust me.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7132319" y="1097279"/>
            <a:ext cx="4663441" cy="4663442"/>
          </a:xfrm>
          <a:prstGeom prst="ellipse">
            <a:avLst/>
          </a:prstGeom>
          <a:ln w="30480">
            <a:solidFill>
              <a:srgbClr val="6D4A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785202" y="1750161"/>
            <a:ext cx="3357677" cy="3357677"/>
          </a:xfrm>
          <a:prstGeom prst="ellipse">
            <a:avLst/>
          </a:prstGeom>
          <a:ln w="3048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8438082" y="2403043"/>
            <a:ext cx="2051915" cy="2051915"/>
          </a:xfrm>
          <a:prstGeom prst="ellipse">
            <a:avLst/>
          </a:prstGeom>
          <a:ln w="25400">
            <a:solidFill>
              <a:srgbClr val="C4B5F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9044330" y="3009289"/>
            <a:ext cx="839421" cy="839421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6583680" y="548639"/>
            <a:ext cx="5760721" cy="5760722"/>
          </a:xfrm>
          <a:prstGeom prst="ellipse">
            <a:avLst/>
          </a:prstGeom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566927" y="1102312"/>
            <a:ext cx="73152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BASEDAI · PERMISSION-AWARE MEMORY CHALLENGE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39495" y="1596569"/>
            <a:ext cx="7863842" cy="87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539496" y="2574977"/>
            <a:ext cx="8046719" cy="8759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6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Memory Guard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566928" y="3796250"/>
            <a:ext cx="7680960" cy="271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100">
                <a:solidFill>
                  <a:srgbClr val="F5F3FF"/>
                </a:solidFill>
              </a:defRPr>
            </a:lvl1pPr>
          </a:lstStyle>
          <a:p>
            <a:pPr/>
            <a:r>
              <a:t>Permission-aware memory for AI agents.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566927" y="4312728"/>
            <a:ext cx="78638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C4B5FD"/>
                </a:solidFill>
              </a:defRPr>
            </a:pPr>
            <a:r>
              <a:t>Deterministic access</a:t>
            </a:r>
            <a:r>
              <a:rPr b="0">
                <a:solidFill>
                  <a:srgbClr val="A79FC7"/>
                </a:solidFill>
              </a:rPr>
              <a:t>   ·   </a:t>
            </a:r>
            <a:r>
              <a:t>governed by lineage</a:t>
            </a:r>
            <a:r>
              <a:rPr b="0">
                <a:solidFill>
                  <a:srgbClr val="A79FC7"/>
                </a:solidFill>
              </a:rPr>
              <a:t>   ·   </a:t>
            </a:r>
            <a:r>
              <a:t>proven by audit</a:t>
            </a:r>
          </a:p>
        </p:txBody>
      </p:sp>
      <p:sp>
        <p:nvSpPr>
          <p:cNvPr id="30" name="Shape 10"/>
          <p:cNvSpPr/>
          <p:nvPr/>
        </p:nvSpPr>
        <p:spPr>
          <a:xfrm>
            <a:off x="566927" y="4800600"/>
            <a:ext cx="2305203" cy="384048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566927" y="4925490"/>
            <a:ext cx="2305204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C4B5FD"/>
                </a:solidFill>
              </a:defRPr>
            </a:lvl1pPr>
          </a:lstStyle>
          <a:p>
            <a:pPr/>
            <a:r>
              <a:t>retrieval-layer enforcement</a:t>
            </a:r>
          </a:p>
        </p:txBody>
      </p:sp>
      <p:sp>
        <p:nvSpPr>
          <p:cNvPr id="32" name="Shape 12"/>
          <p:cNvSpPr/>
          <p:nvPr/>
        </p:nvSpPr>
        <p:spPr>
          <a:xfrm>
            <a:off x="3036722" y="4800600"/>
            <a:ext cx="2684678" cy="384048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3036722" y="4925490"/>
            <a:ext cx="2684679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C4B5FD"/>
                </a:solidFill>
              </a:defRPr>
            </a:lvl1pPr>
          </a:lstStyle>
          <a:p>
            <a:pPr/>
            <a:r>
              <a:t>0 LLM calls on the decision path</a:t>
            </a:r>
          </a:p>
        </p:txBody>
      </p:sp>
      <p:sp>
        <p:nvSpPr>
          <p:cNvPr id="34" name="Shape 14"/>
          <p:cNvSpPr/>
          <p:nvPr/>
        </p:nvSpPr>
        <p:spPr>
          <a:xfrm>
            <a:off x="5885993" y="4800600"/>
            <a:ext cx="1849832" cy="384048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5"/>
          <p:cNvSpPr txBox="1"/>
          <p:nvPr/>
        </p:nvSpPr>
        <p:spPr>
          <a:xfrm>
            <a:off x="5885993" y="4925490"/>
            <a:ext cx="184983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C4B5FD"/>
                </a:solidFill>
              </a:defRPr>
            </a:lvl1pPr>
          </a:lstStyle>
          <a:p>
            <a:pPr/>
            <a:r>
              <a:t>revocation by lineage</a:t>
            </a:r>
          </a:p>
        </p:txBody>
      </p:sp>
      <p:sp>
        <p:nvSpPr>
          <p:cNvPr id="36" name="Shape 16"/>
          <p:cNvSpPr/>
          <p:nvPr/>
        </p:nvSpPr>
        <p:spPr>
          <a:xfrm>
            <a:off x="7900416" y="4800600"/>
            <a:ext cx="1622147" cy="384048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17"/>
          <p:cNvSpPr txBox="1"/>
          <p:nvPr/>
        </p:nvSpPr>
        <p:spPr>
          <a:xfrm>
            <a:off x="7900416" y="4925490"/>
            <a:ext cx="1622147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C4B5FD"/>
                </a:solidFill>
              </a:defRPr>
            </a:lvl1pPr>
          </a:lstStyle>
          <a:p>
            <a:pPr/>
            <a:r>
              <a:t>hash-chained audit</a:t>
            </a:r>
          </a:p>
        </p:txBody>
      </p:sp>
      <p:sp>
        <p:nvSpPr>
          <p:cNvPr id="38" name="Text 18"/>
          <p:cNvSpPr txBox="1"/>
          <p:nvPr/>
        </p:nvSpPr>
        <p:spPr>
          <a:xfrm>
            <a:off x="566927" y="5888027"/>
            <a:ext cx="100584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A79FC7"/>
                </a:solidFill>
              </a:defRPr>
            </a:pPr>
            <a:r>
              <a:t>Live, no install:  </a:t>
            </a:r>
            <a:r>
              <a:rPr b="1">
                <a:solidFill>
                  <a:srgbClr val="34D399"/>
                </a:solidFill>
              </a:rPr>
              <a:t>the library</a:t>
            </a:r>
            <a:r>
              <a:t>  ·  </a:t>
            </a:r>
            <a:r>
              <a:rPr b="1">
                <a:solidFill>
                  <a:srgbClr val="34D399"/>
                </a:solidFill>
              </a:rPr>
              <a:t>the console</a:t>
            </a:r>
            <a:r>
              <a:t>      github.com/phoenicon/onion-loop-memory-guard</a:t>
            </a:r>
          </a:p>
        </p:txBody>
      </p:sp>
      <p:sp>
        <p:nvSpPr>
          <p:cNvPr id="39" name="Text 19"/>
          <p:cNvSpPr txBox="1"/>
          <p:nvPr/>
        </p:nvSpPr>
        <p:spPr>
          <a:xfrm>
            <a:off x="566927" y="6269658"/>
            <a:ext cx="7315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A79FC7"/>
                </a:solidFill>
              </a:defRPr>
            </a:lvl1pPr>
          </a:lstStyle>
          <a:p>
            <a:pPr/>
            <a:r>
              <a:t>UK AI Agent Hackathon Ep5 × Conduct  ·  3 July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PROBLEM, IN ONE BREATH</a:t>
            </a:r>
          </a:p>
        </p:txBody>
      </p:sp>
      <p:sp>
        <p:nvSpPr>
          <p:cNvPr id="44" name="Text 1"/>
          <p:cNvSpPr txBox="1"/>
          <p:nvPr/>
        </p:nvSpPr>
        <p:spPr>
          <a:xfrm>
            <a:off x="566927" y="749808"/>
            <a:ext cx="11055098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Your agent's memory has no permissions.</a:t>
            </a:r>
          </a:p>
        </p:txBody>
      </p:sp>
      <p:sp>
        <p:nvSpPr>
          <p:cNvPr id="45" name="Text 2"/>
          <p:cNvSpPr txBox="1"/>
          <p:nvPr/>
        </p:nvSpPr>
        <p:spPr>
          <a:xfrm>
            <a:off x="566928" y="1758290"/>
            <a:ext cx="10424160" cy="424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500">
                <a:solidFill>
                  <a:srgbClr val="A79FC7"/>
                </a:solidFill>
              </a:defRPr>
            </a:lvl1pPr>
          </a:lstStyle>
          <a:p>
            <a:pPr/>
            <a:r>
              <a:t>AI agents remember, summarise and act across everything a company owns. Today's memory retrieves by relevance and bolts permissions on in the application layer — so the memory leaks what its source protected.</a:t>
            </a:r>
          </a:p>
        </p:txBody>
      </p:sp>
      <p:sp>
        <p:nvSpPr>
          <p:cNvPr id="46" name="Shape 3"/>
          <p:cNvSpPr/>
          <p:nvPr/>
        </p:nvSpPr>
        <p:spPr>
          <a:xfrm>
            <a:off x="566927" y="2432304"/>
            <a:ext cx="5344669" cy="1572769"/>
          </a:xfrm>
          <a:prstGeom prst="roundRect">
            <a:avLst>
              <a:gd name="adj" fmla="val 5233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" name="Shape 4"/>
          <p:cNvSpPr/>
          <p:nvPr/>
        </p:nvSpPr>
        <p:spPr>
          <a:xfrm>
            <a:off x="859536" y="2761488"/>
            <a:ext cx="164593" cy="164593"/>
          </a:xfrm>
          <a:prstGeom prst="ellipse">
            <a:avLst/>
          </a:prstGeom>
          <a:solidFill>
            <a:srgbClr val="FB718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5"/>
          <p:cNvSpPr txBox="1"/>
          <p:nvPr/>
        </p:nvSpPr>
        <p:spPr>
          <a:xfrm>
            <a:off x="1133855" y="2723663"/>
            <a:ext cx="452171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Summaries leak sources</a:t>
            </a:r>
          </a:p>
        </p:txBody>
      </p:sp>
      <p:sp>
        <p:nvSpPr>
          <p:cNvPr id="49" name="Text 6"/>
          <p:cNvSpPr txBox="1"/>
          <p:nvPr/>
        </p:nvSpPr>
        <p:spPr>
          <a:xfrm>
            <a:off x="859535" y="3108960"/>
            <a:ext cx="4759454" cy="350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An AI summary of a confidential board deck happily answers a contractor's question. The derivative kept none of the source's rules.</a:t>
            </a:r>
          </a:p>
        </p:txBody>
      </p:sp>
      <p:sp>
        <p:nvSpPr>
          <p:cNvPr id="50" name="Shape 7"/>
          <p:cNvSpPr/>
          <p:nvPr/>
        </p:nvSpPr>
        <p:spPr>
          <a:xfrm>
            <a:off x="6277355" y="2432304"/>
            <a:ext cx="5344669" cy="1572769"/>
          </a:xfrm>
          <a:prstGeom prst="roundRect">
            <a:avLst>
              <a:gd name="adj" fmla="val 5233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1" name="Shape 8"/>
          <p:cNvSpPr/>
          <p:nvPr/>
        </p:nvSpPr>
        <p:spPr>
          <a:xfrm>
            <a:off x="6569964" y="2761488"/>
            <a:ext cx="164593" cy="164593"/>
          </a:xfrm>
          <a:prstGeom prst="ellipse">
            <a:avLst/>
          </a:prstGeom>
          <a:solidFill>
            <a:srgbClr val="FB718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9"/>
          <p:cNvSpPr txBox="1"/>
          <p:nvPr/>
        </p:nvSpPr>
        <p:spPr>
          <a:xfrm>
            <a:off x="6844283" y="2723663"/>
            <a:ext cx="452170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Embeddings expose secrets</a:t>
            </a:r>
          </a:p>
        </p:txBody>
      </p:sp>
      <p:sp>
        <p:nvSpPr>
          <p:cNvPr id="53" name="Text 10"/>
          <p:cNvSpPr txBox="1"/>
          <p:nvPr/>
        </p:nvSpPr>
        <p:spPr>
          <a:xfrm>
            <a:off x="6569964" y="3108960"/>
            <a:ext cx="4759453" cy="350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Similarity search ranks restricted knowledge into 'top-k' results — visibility decided by relevance, not by who's asking.</a:t>
            </a:r>
          </a:p>
        </p:txBody>
      </p:sp>
      <p:sp>
        <p:nvSpPr>
          <p:cNvPr id="54" name="Shape 11"/>
          <p:cNvSpPr/>
          <p:nvPr/>
        </p:nvSpPr>
        <p:spPr>
          <a:xfrm>
            <a:off x="566927" y="4315967"/>
            <a:ext cx="5344669" cy="1572769"/>
          </a:xfrm>
          <a:prstGeom prst="roundRect">
            <a:avLst>
              <a:gd name="adj" fmla="val 5233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5" name="Shape 12"/>
          <p:cNvSpPr/>
          <p:nvPr/>
        </p:nvSpPr>
        <p:spPr>
          <a:xfrm>
            <a:off x="859536" y="4645152"/>
            <a:ext cx="164593" cy="164593"/>
          </a:xfrm>
          <a:prstGeom prst="ellipse">
            <a:avLst/>
          </a:prstGeom>
          <a:solidFill>
            <a:srgbClr val="FB718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3"/>
          <p:cNvSpPr txBox="1"/>
          <p:nvPr/>
        </p:nvSpPr>
        <p:spPr>
          <a:xfrm>
            <a:off x="1133855" y="4607327"/>
            <a:ext cx="452171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Revocation leaves ghosts</a:t>
            </a:r>
          </a:p>
        </p:txBody>
      </p:sp>
      <p:sp>
        <p:nvSpPr>
          <p:cNvPr id="57" name="Text 14"/>
          <p:cNvSpPr txBox="1"/>
          <p:nvPr/>
        </p:nvSpPr>
        <p:spPr>
          <a:xfrm>
            <a:off x="859535" y="4992623"/>
            <a:ext cx="4759454" cy="350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Someone loses access, but summaries, notes and vectors built from that source linger with stale permissions.</a:t>
            </a:r>
          </a:p>
        </p:txBody>
      </p:sp>
      <p:sp>
        <p:nvSpPr>
          <p:cNvPr id="58" name="Shape 15"/>
          <p:cNvSpPr/>
          <p:nvPr/>
        </p:nvSpPr>
        <p:spPr>
          <a:xfrm>
            <a:off x="6277355" y="4315967"/>
            <a:ext cx="5344669" cy="1572769"/>
          </a:xfrm>
          <a:prstGeom prst="roundRect">
            <a:avLst>
              <a:gd name="adj" fmla="val 5233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9" name="Shape 16"/>
          <p:cNvSpPr/>
          <p:nvPr/>
        </p:nvSpPr>
        <p:spPr>
          <a:xfrm>
            <a:off x="6569964" y="4645152"/>
            <a:ext cx="164593" cy="164593"/>
          </a:xfrm>
          <a:prstGeom prst="ellipse">
            <a:avLst/>
          </a:prstGeom>
          <a:solidFill>
            <a:srgbClr val="FB7185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7"/>
          <p:cNvSpPr txBox="1"/>
          <p:nvPr/>
        </p:nvSpPr>
        <p:spPr>
          <a:xfrm>
            <a:off x="6844283" y="4607327"/>
            <a:ext cx="452170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audit a regulator accepts</a:t>
            </a:r>
          </a:p>
        </p:txBody>
      </p:sp>
      <p:sp>
        <p:nvSpPr>
          <p:cNvPr id="61" name="Text 18"/>
          <p:cNvSpPr txBox="1"/>
          <p:nvPr/>
        </p:nvSpPr>
        <p:spPr>
          <a:xfrm>
            <a:off x="6569964" y="4992623"/>
            <a:ext cx="4759453" cy="350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Ad-hoc, editable logs. No way to prove — after the fact — exactly what an agent was allowed to recall, and why.</a:t>
            </a:r>
          </a:p>
        </p:txBody>
      </p:sp>
      <p:sp>
        <p:nvSpPr>
          <p:cNvPr id="62" name="Text 19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63" name="Text 20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NOW</a:t>
            </a:r>
          </a:p>
        </p:txBody>
      </p:sp>
      <p:sp>
        <p:nvSpPr>
          <p:cNvPr id="68" name="Text 1"/>
          <p:cNvSpPr txBox="1"/>
          <p:nvPr/>
        </p:nvSpPr>
        <p:spPr>
          <a:xfrm>
            <a:off x="566927" y="749808"/>
            <a:ext cx="11055098" cy="942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This is a named, top-tier industry risk — as of last month.</a:t>
            </a:r>
          </a:p>
        </p:txBody>
      </p:sp>
      <p:sp>
        <p:nvSpPr>
          <p:cNvPr id="69" name="Shape 2"/>
          <p:cNvSpPr/>
          <p:nvPr/>
        </p:nvSpPr>
        <p:spPr>
          <a:xfrm>
            <a:off x="566927" y="2331720"/>
            <a:ext cx="3441193" cy="2743201"/>
          </a:xfrm>
          <a:prstGeom prst="roundRect">
            <a:avLst>
              <a:gd name="adj" fmla="val 300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Text 3"/>
          <p:cNvSpPr txBox="1"/>
          <p:nvPr/>
        </p:nvSpPr>
        <p:spPr>
          <a:xfrm>
            <a:off x="877824" y="2837914"/>
            <a:ext cx="2819401" cy="715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#1 &amp; #3</a:t>
            </a:r>
          </a:p>
        </p:txBody>
      </p:sp>
      <p:sp>
        <p:nvSpPr>
          <p:cNvPr id="71" name="Shape 4"/>
          <p:cNvSpPr/>
          <p:nvPr/>
        </p:nvSpPr>
        <p:spPr>
          <a:xfrm>
            <a:off x="877824" y="3813047"/>
            <a:ext cx="2819401" cy="1"/>
          </a:xfrm>
          <a:prstGeom prst="line">
            <a:avLst/>
          </a:prstGeom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5"/>
          <p:cNvSpPr txBox="1"/>
          <p:nvPr/>
        </p:nvSpPr>
        <p:spPr>
          <a:xfrm>
            <a:off x="877824" y="3959352"/>
            <a:ext cx="2819401" cy="58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300">
                <a:solidFill>
                  <a:srgbClr val="A79FC7"/>
                </a:solidFill>
              </a:defRPr>
            </a:lvl1pPr>
          </a:lstStyle>
          <a:p>
            <a:pPr/>
            <a:r>
              <a:t>of the OWASP Top 10 for Agentic Apps (2026) are memory poisoning and privilege abuse</a:t>
            </a:r>
          </a:p>
        </p:txBody>
      </p:sp>
      <p:sp>
        <p:nvSpPr>
          <p:cNvPr id="73" name="Shape 6"/>
          <p:cNvSpPr/>
          <p:nvPr/>
        </p:nvSpPr>
        <p:spPr>
          <a:xfrm>
            <a:off x="4373879" y="2331720"/>
            <a:ext cx="3441193" cy="2743201"/>
          </a:xfrm>
          <a:prstGeom prst="roundRect">
            <a:avLst>
              <a:gd name="adj" fmla="val 300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" name="Text 7"/>
          <p:cNvSpPr txBox="1"/>
          <p:nvPr/>
        </p:nvSpPr>
        <p:spPr>
          <a:xfrm>
            <a:off x="4684776" y="2837914"/>
            <a:ext cx="2819401" cy="715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88%</a:t>
            </a:r>
          </a:p>
        </p:txBody>
      </p:sp>
      <p:sp>
        <p:nvSpPr>
          <p:cNvPr id="75" name="Shape 8"/>
          <p:cNvSpPr/>
          <p:nvPr/>
        </p:nvSpPr>
        <p:spPr>
          <a:xfrm>
            <a:off x="4684776" y="3813047"/>
            <a:ext cx="2819401" cy="1"/>
          </a:xfrm>
          <a:prstGeom prst="line">
            <a:avLst/>
          </a:prstGeom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9"/>
          <p:cNvSpPr txBox="1"/>
          <p:nvPr/>
        </p:nvSpPr>
        <p:spPr>
          <a:xfrm>
            <a:off x="4684776" y="3959352"/>
            <a:ext cx="2819401" cy="58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300">
                <a:solidFill>
                  <a:srgbClr val="A79FC7"/>
                </a:solidFill>
              </a:defRPr>
            </a:lvl1pPr>
          </a:lstStyle>
          <a:p>
            <a:pPr/>
            <a:r>
              <a:t>of organisations have already had an AI-agent security incident — data leakage &amp; excess privilege lead</a:t>
            </a:r>
          </a:p>
        </p:txBody>
      </p:sp>
      <p:sp>
        <p:nvSpPr>
          <p:cNvPr id="77" name="Shape 10"/>
          <p:cNvSpPr/>
          <p:nvPr/>
        </p:nvSpPr>
        <p:spPr>
          <a:xfrm>
            <a:off x="8180831" y="2331720"/>
            <a:ext cx="3441193" cy="2743201"/>
          </a:xfrm>
          <a:prstGeom prst="roundRect">
            <a:avLst>
              <a:gd name="adj" fmla="val 300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Text 11"/>
          <p:cNvSpPr txBox="1"/>
          <p:nvPr/>
        </p:nvSpPr>
        <p:spPr>
          <a:xfrm>
            <a:off x="8491728" y="2837914"/>
            <a:ext cx="2819401" cy="715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fix</a:t>
            </a:r>
          </a:p>
        </p:txBody>
      </p:sp>
      <p:sp>
        <p:nvSpPr>
          <p:cNvPr id="79" name="Shape 12"/>
          <p:cNvSpPr/>
          <p:nvPr/>
        </p:nvSpPr>
        <p:spPr>
          <a:xfrm>
            <a:off x="8491728" y="3813047"/>
            <a:ext cx="2819401" cy="1"/>
          </a:xfrm>
          <a:prstGeom prst="line">
            <a:avLst/>
          </a:prstGeom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13"/>
          <p:cNvSpPr txBox="1"/>
          <p:nvPr/>
        </p:nvSpPr>
        <p:spPr>
          <a:xfrm>
            <a:off x="8491728" y="3959352"/>
            <a:ext cx="2819401" cy="58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sz="1300">
                <a:solidFill>
                  <a:srgbClr val="A79FC7"/>
                </a:solidFill>
              </a:defRPr>
            </a:lvl1pPr>
          </a:lstStyle>
          <a:p>
            <a:pPr/>
            <a:r>
              <a:t>OWASP's own control: compute access at retrieval, from authenticated sources — exactly this</a:t>
            </a:r>
          </a:p>
        </p:txBody>
      </p:sp>
      <p:sp>
        <p:nvSpPr>
          <p:cNvPr id="81" name="Text 14"/>
          <p:cNvSpPr txBox="1"/>
          <p:nvPr/>
        </p:nvSpPr>
        <p:spPr>
          <a:xfrm>
            <a:off x="566927" y="5507421"/>
            <a:ext cx="11055098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500">
                <a:solidFill>
                  <a:srgbClr val="A79FC7"/>
                </a:solidFill>
              </a:defRPr>
            </a:pPr>
            <a:r>
              <a:t>Agents are shipping into finance, health and government now — and the memory layer is where trust breaks. </a:t>
            </a:r>
            <a:r>
              <a:rPr b="1">
                <a:solidFill>
                  <a:srgbClr val="F5F3FF"/>
                </a:solidFill>
              </a:rPr>
              <a:t>The permission layer is the open problem. We built it.</a:t>
            </a:r>
          </a:p>
        </p:txBody>
      </p:sp>
      <p:sp>
        <p:nvSpPr>
          <p:cNvPr id="82" name="Text 15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83" name="Text 16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9006840" y="1965960"/>
            <a:ext cx="2834641" cy="2834641"/>
          </a:xfrm>
          <a:prstGeom prst="ellipse">
            <a:avLst/>
          </a:prstGeom>
          <a:ln w="30480">
            <a:solidFill>
              <a:srgbClr val="6D4A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"/>
          <p:cNvSpPr/>
          <p:nvPr/>
        </p:nvSpPr>
        <p:spPr>
          <a:xfrm>
            <a:off x="9403690" y="2362810"/>
            <a:ext cx="2040941" cy="2040941"/>
          </a:xfrm>
          <a:prstGeom prst="ellipse">
            <a:avLst/>
          </a:prstGeom>
          <a:ln w="3048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2"/>
          <p:cNvSpPr/>
          <p:nvPr/>
        </p:nvSpPr>
        <p:spPr>
          <a:xfrm>
            <a:off x="9800539" y="2759659"/>
            <a:ext cx="1247242" cy="1247243"/>
          </a:xfrm>
          <a:prstGeom prst="ellipse">
            <a:avLst/>
          </a:prstGeom>
          <a:ln w="25400">
            <a:solidFill>
              <a:srgbClr val="C4B5F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3"/>
          <p:cNvSpPr/>
          <p:nvPr/>
        </p:nvSpPr>
        <p:spPr>
          <a:xfrm>
            <a:off x="10169042" y="3128161"/>
            <a:ext cx="510237" cy="510237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4"/>
          <p:cNvSpPr txBox="1"/>
          <p:nvPr/>
        </p:nvSpPr>
        <p:spPr>
          <a:xfrm>
            <a:off x="566927" y="1256190"/>
            <a:ext cx="91440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50" sz="13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INSIGHT — OBVIOUS ONLY IN HINDSIGHT</a:t>
            </a:r>
          </a:p>
        </p:txBody>
      </p:sp>
      <p:sp>
        <p:nvSpPr>
          <p:cNvPr id="92" name="Text 5"/>
          <p:cNvSpPr txBox="1"/>
          <p:nvPr/>
        </p:nvSpPr>
        <p:spPr>
          <a:xfrm>
            <a:off x="566928" y="2088569"/>
            <a:ext cx="9418320" cy="1126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0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You can't trust </a:t>
            </a:r>
            <a:r>
              <a:rPr>
                <a:solidFill>
                  <a:srgbClr val="FB7185"/>
                </a:solidFill>
              </a:rPr>
              <a:t>relevance</a:t>
            </a:r>
            <a:r>
              <a:t> to decide what an agent may recall.</a:t>
            </a:r>
          </a:p>
        </p:txBody>
      </p:sp>
      <p:sp>
        <p:nvSpPr>
          <p:cNvPr id="93" name="Text 6"/>
          <p:cNvSpPr txBox="1"/>
          <p:nvPr/>
        </p:nvSpPr>
        <p:spPr>
          <a:xfrm>
            <a:off x="566928" y="3265859"/>
            <a:ext cx="9418320" cy="169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40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Access must be </a:t>
            </a:r>
            <a:r>
              <a:rPr>
                <a:solidFill>
                  <a:srgbClr val="34D399"/>
                </a:solidFill>
              </a:rPr>
              <a:t>computed from lineage</a:t>
            </a:r>
            <a:r>
              <a:t> — before ranking, and without a model.</a:t>
            </a:r>
          </a:p>
        </p:txBody>
      </p:sp>
      <p:sp>
        <p:nvSpPr>
          <p:cNvPr id="94" name="Text 7"/>
          <p:cNvSpPr txBox="1"/>
          <p:nvPr/>
        </p:nvSpPr>
        <p:spPr>
          <a:xfrm>
            <a:off x="566927" y="5271359"/>
            <a:ext cx="8686801" cy="43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8000"/>
              </a:lnSpc>
              <a:defRPr sz="1500">
                <a:solidFill>
                  <a:srgbClr val="A79FC7"/>
                </a:solidFill>
              </a:defRPr>
            </a:lvl1pPr>
          </a:lstStyle>
          <a:p>
            <a:pPr/>
            <a:r>
              <a:t>A derivative carries no permissions of its own — only the sources it came from. So we filter, then rank. A memory the viewer can't read is never even a candidate.</a:t>
            </a:r>
          </a:p>
        </p:txBody>
      </p:sp>
      <p:sp>
        <p:nvSpPr>
          <p:cNvPr id="95" name="Text 8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96" name="Text 9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101" name="Text 1"/>
          <p:cNvSpPr txBox="1"/>
          <p:nvPr/>
        </p:nvSpPr>
        <p:spPr>
          <a:xfrm>
            <a:off x="566927" y="749808"/>
            <a:ext cx="11055098" cy="942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paths. Only the write path may touch an LLM — once.</a:t>
            </a:r>
          </a:p>
        </p:txBody>
      </p:sp>
      <p:sp>
        <p:nvSpPr>
          <p:cNvPr id="102" name="Shape 2"/>
          <p:cNvSpPr/>
          <p:nvPr/>
        </p:nvSpPr>
        <p:spPr>
          <a:xfrm>
            <a:off x="566927" y="1828800"/>
            <a:ext cx="5298949" cy="4160521"/>
          </a:xfrm>
          <a:prstGeom prst="roundRect">
            <a:avLst>
              <a:gd name="adj" fmla="val 1978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" name="Text 3"/>
          <p:cNvSpPr txBox="1"/>
          <p:nvPr/>
        </p:nvSpPr>
        <p:spPr>
          <a:xfrm>
            <a:off x="877823" y="2146160"/>
            <a:ext cx="383591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4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WRITE PATH</a:t>
            </a:r>
          </a:p>
        </p:txBody>
      </p:sp>
      <p:sp>
        <p:nvSpPr>
          <p:cNvPr id="104" name="Shape 4"/>
          <p:cNvSpPr/>
          <p:nvPr/>
        </p:nvSpPr>
        <p:spPr>
          <a:xfrm>
            <a:off x="4174235" y="2048255"/>
            <a:ext cx="1371601" cy="365761"/>
          </a:xfrm>
          <a:prstGeom prst="roundRect">
            <a:avLst>
              <a:gd name="adj" fmla="val 50000"/>
            </a:avLst>
          </a:prstGeom>
          <a:solidFill>
            <a:srgbClr val="2A2150"/>
          </a:solidFill>
          <a:ln w="12700">
            <a:solidFill>
              <a:srgbClr val="FBBF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5"/>
          <p:cNvSpPr txBox="1"/>
          <p:nvPr/>
        </p:nvSpPr>
        <p:spPr>
          <a:xfrm>
            <a:off x="4174235" y="2167635"/>
            <a:ext cx="1371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FBBF24"/>
                </a:solidFill>
              </a:defRPr>
            </a:lvl1pPr>
          </a:lstStyle>
          <a:p>
            <a:pPr/>
            <a:r>
              <a:t>LLM allowed · once</a:t>
            </a:r>
          </a:p>
        </p:txBody>
      </p:sp>
      <p:sp>
        <p:nvSpPr>
          <p:cNvPr id="106" name="Text 6"/>
          <p:cNvSpPr txBox="1"/>
          <p:nvPr/>
        </p:nvSpPr>
        <p:spPr>
          <a:xfrm>
            <a:off x="877824" y="2738118"/>
            <a:ext cx="45720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07" name="Text 7"/>
          <p:cNvSpPr txBox="1"/>
          <p:nvPr/>
        </p:nvSpPr>
        <p:spPr>
          <a:xfrm>
            <a:off x="1408175" y="2760239"/>
            <a:ext cx="420166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Classify → ACL</a:t>
            </a:r>
          </a:p>
        </p:txBody>
      </p:sp>
      <p:sp>
        <p:nvSpPr>
          <p:cNvPr id="108" name="Text 8"/>
          <p:cNvSpPr txBox="1"/>
          <p:nvPr/>
        </p:nvSpPr>
        <p:spPr>
          <a:xfrm>
            <a:off x="1408176" y="3435844"/>
            <a:ext cx="4155948" cy="352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3000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A document arrives. A classifier (may use an LLM, offline) attaches access rules to the source. Once written, access is data.</a:t>
            </a:r>
          </a:p>
        </p:txBody>
      </p:sp>
      <p:sp>
        <p:nvSpPr>
          <p:cNvPr id="109" name="Text 9"/>
          <p:cNvSpPr txBox="1"/>
          <p:nvPr/>
        </p:nvSpPr>
        <p:spPr>
          <a:xfrm>
            <a:off x="877824" y="4310886"/>
            <a:ext cx="45720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0" name="Text 10"/>
          <p:cNvSpPr txBox="1"/>
          <p:nvPr/>
        </p:nvSpPr>
        <p:spPr>
          <a:xfrm>
            <a:off x="1408175" y="4333007"/>
            <a:ext cx="420166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Derive memory</a:t>
            </a:r>
          </a:p>
        </p:txBody>
      </p:sp>
      <p:sp>
        <p:nvSpPr>
          <p:cNvPr id="111" name="Text 11"/>
          <p:cNvSpPr txBox="1"/>
          <p:nvPr/>
        </p:nvSpPr>
        <p:spPr>
          <a:xfrm>
            <a:off x="1408176" y="5008612"/>
            <a:ext cx="4155948" cy="352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3000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Summaries, embeddings and notes are built from sources — and store their lineage only, never a copy of the permissions.</a:t>
            </a:r>
          </a:p>
        </p:txBody>
      </p:sp>
      <p:sp>
        <p:nvSpPr>
          <p:cNvPr id="112" name="Shape 12"/>
          <p:cNvSpPr/>
          <p:nvPr/>
        </p:nvSpPr>
        <p:spPr>
          <a:xfrm>
            <a:off x="6323076" y="1828800"/>
            <a:ext cx="5298948" cy="4160521"/>
          </a:xfrm>
          <a:prstGeom prst="roundRect">
            <a:avLst>
              <a:gd name="adj" fmla="val 1978"/>
            </a:avLst>
          </a:prstGeom>
          <a:solidFill>
            <a:srgbClr val="1B1533"/>
          </a:solidFill>
          <a:ln w="19050">
            <a:solidFill>
              <a:srgbClr val="8B5CF6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3" name="Text 13"/>
          <p:cNvSpPr txBox="1"/>
          <p:nvPr/>
        </p:nvSpPr>
        <p:spPr>
          <a:xfrm>
            <a:off x="6633971" y="2146160"/>
            <a:ext cx="356158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4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READ PATH</a:t>
            </a:r>
          </a:p>
        </p:txBody>
      </p:sp>
      <p:sp>
        <p:nvSpPr>
          <p:cNvPr id="114" name="Shape 14"/>
          <p:cNvSpPr/>
          <p:nvPr/>
        </p:nvSpPr>
        <p:spPr>
          <a:xfrm>
            <a:off x="9610343" y="2048255"/>
            <a:ext cx="1691641" cy="36576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15"/>
          <p:cNvSpPr txBox="1"/>
          <p:nvPr/>
        </p:nvSpPr>
        <p:spPr>
          <a:xfrm>
            <a:off x="9610343" y="2167635"/>
            <a:ext cx="1691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34D399"/>
                </a:solidFill>
              </a:defRPr>
            </a:lvl1pPr>
          </a:lstStyle>
          <a:p>
            <a:pPr/>
            <a:r>
              <a:t>deterministic · 0 LLM</a:t>
            </a:r>
          </a:p>
        </p:txBody>
      </p:sp>
      <p:sp>
        <p:nvSpPr>
          <p:cNvPr id="116" name="Text 16"/>
          <p:cNvSpPr txBox="1"/>
          <p:nvPr/>
        </p:nvSpPr>
        <p:spPr>
          <a:xfrm>
            <a:off x="6633971" y="2692883"/>
            <a:ext cx="41148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7" name="Text 17"/>
          <p:cNvSpPr txBox="1"/>
          <p:nvPr/>
        </p:nvSpPr>
        <p:spPr>
          <a:xfrm>
            <a:off x="7100316" y="2875079"/>
            <a:ext cx="424738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5F3FF"/>
                </a:solidFill>
              </a:defRPr>
            </a:pPr>
            <a:r>
              <a:t>Resolve lineage  </a:t>
            </a:r>
            <a:r>
              <a:rPr b="0">
                <a:solidFill>
                  <a:srgbClr val="A79FC7"/>
                </a:solidFill>
              </a:rPr>
              <a:t>Walk each memory back to its leaf sources.</a:t>
            </a:r>
          </a:p>
        </p:txBody>
      </p:sp>
      <p:sp>
        <p:nvSpPr>
          <p:cNvPr id="118" name="Text 18"/>
          <p:cNvSpPr txBox="1"/>
          <p:nvPr/>
        </p:nvSpPr>
        <p:spPr>
          <a:xfrm>
            <a:off x="6633971" y="3515843"/>
            <a:ext cx="41148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9" name="Text 19"/>
          <p:cNvSpPr txBox="1"/>
          <p:nvPr/>
        </p:nvSpPr>
        <p:spPr>
          <a:xfrm>
            <a:off x="7100316" y="3602789"/>
            <a:ext cx="4247389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5F3FF"/>
                </a:solidFill>
              </a:defRPr>
            </a:pPr>
            <a:r>
              <a:t>Intersect ACLs (clock-aware)  </a:t>
            </a:r>
            <a:r>
              <a:rPr b="0">
                <a:solidFill>
                  <a:srgbClr val="A79FC7"/>
                </a:solidFill>
              </a:rPr>
              <a:t>You may read it iff you may read every source. Revoked or time-locked → ∅.</a:t>
            </a:r>
          </a:p>
        </p:txBody>
      </p:sp>
      <p:sp>
        <p:nvSpPr>
          <p:cNvPr id="120" name="Text 20"/>
          <p:cNvSpPr txBox="1"/>
          <p:nvPr/>
        </p:nvSpPr>
        <p:spPr>
          <a:xfrm>
            <a:off x="6633971" y="4338803"/>
            <a:ext cx="41148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1" name="Text 21"/>
          <p:cNvSpPr txBox="1"/>
          <p:nvPr/>
        </p:nvSpPr>
        <p:spPr>
          <a:xfrm>
            <a:off x="7100316" y="4425749"/>
            <a:ext cx="4247389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5F3FF"/>
                </a:solidFill>
              </a:defRPr>
            </a:pPr>
            <a:r>
              <a:t>Filter, then rank  </a:t>
            </a:r>
            <a:r>
              <a:rPr b="0">
                <a:solidFill>
                  <a:srgbClr val="A79FC7"/>
                </a:solidFill>
              </a:rPr>
              <a:t>Relevance is applied only over the granted set — never before.</a:t>
            </a:r>
          </a:p>
        </p:txBody>
      </p:sp>
      <p:sp>
        <p:nvSpPr>
          <p:cNvPr id="122" name="Text 22"/>
          <p:cNvSpPr txBox="1"/>
          <p:nvPr/>
        </p:nvSpPr>
        <p:spPr>
          <a:xfrm>
            <a:off x="6633971" y="5161763"/>
            <a:ext cx="41148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3" name="Text 23"/>
          <p:cNvSpPr txBox="1"/>
          <p:nvPr/>
        </p:nvSpPr>
        <p:spPr>
          <a:xfrm>
            <a:off x="7100316" y="5248709"/>
            <a:ext cx="4247389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5F3FF"/>
                </a:solidFill>
              </a:defRPr>
            </a:pPr>
            <a:r>
              <a:t>Hash-chained audit  </a:t>
            </a:r>
            <a:r>
              <a:rPr b="0">
                <a:solidFill>
                  <a:srgbClr val="A79FC7"/>
                </a:solidFill>
              </a:rPr>
              <a:t>Every decision + its rule is written to a tamper-evident ledger, anchored to Hedera.</a:t>
            </a:r>
          </a:p>
        </p:txBody>
      </p:sp>
      <p:sp>
        <p:nvSpPr>
          <p:cNvPr id="124" name="Text 24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125" name="Text 25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LINEAGE GOVERNANCE — THE ONION LOOP</a:t>
            </a:r>
          </a:p>
        </p:txBody>
      </p:sp>
      <p:sp>
        <p:nvSpPr>
          <p:cNvPr id="130" name="Text 1"/>
          <p:cNvSpPr txBox="1"/>
          <p:nvPr/>
        </p:nvSpPr>
        <p:spPr>
          <a:xfrm>
            <a:off x="566927" y="749808"/>
            <a:ext cx="11055098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Revocation isn't propagated. It's free.</a:t>
            </a:r>
          </a:p>
        </p:txBody>
      </p:sp>
      <p:sp>
        <p:nvSpPr>
          <p:cNvPr id="131" name="Shape 2"/>
          <p:cNvSpPr/>
          <p:nvPr/>
        </p:nvSpPr>
        <p:spPr>
          <a:xfrm>
            <a:off x="566927" y="1828800"/>
            <a:ext cx="6400801" cy="1234440"/>
          </a:xfrm>
          <a:prstGeom prst="roundRect">
            <a:avLst>
              <a:gd name="adj" fmla="val 6667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Text 3"/>
          <p:cNvSpPr txBox="1"/>
          <p:nvPr/>
        </p:nvSpPr>
        <p:spPr>
          <a:xfrm>
            <a:off x="932688" y="2163779"/>
            <a:ext cx="5669280" cy="564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04999"/>
              </a:lnSpc>
              <a:defRPr b="1" sz="19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You may read a derivative  </a:t>
            </a:r>
            <a:r>
              <a:rPr i="1">
                <a:solidFill>
                  <a:srgbClr val="8B5CF6"/>
                </a:solidFill>
              </a:rPr>
              <a:t>iff</a:t>
            </a:r>
            <a:r>
              <a:t>  you may read </a:t>
            </a:r>
            <a:r>
              <a:rPr>
                <a:solidFill>
                  <a:srgbClr val="34D399"/>
                </a:solidFill>
              </a:rPr>
              <a:t>every source</a:t>
            </a:r>
            <a:r>
              <a:t>  in its lineage.</a:t>
            </a:r>
          </a:p>
        </p:txBody>
      </p:sp>
      <p:sp>
        <p:nvSpPr>
          <p:cNvPr id="133" name="Shape 4"/>
          <p:cNvSpPr/>
          <p:nvPr/>
        </p:nvSpPr>
        <p:spPr>
          <a:xfrm>
            <a:off x="566927" y="3337559"/>
            <a:ext cx="6400801" cy="2788921"/>
          </a:xfrm>
          <a:prstGeom prst="roundRect">
            <a:avLst>
              <a:gd name="adj" fmla="val 2951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Text 5"/>
          <p:cNvSpPr txBox="1"/>
          <p:nvPr/>
        </p:nvSpPr>
        <p:spPr>
          <a:xfrm>
            <a:off x="932688" y="3616912"/>
            <a:ext cx="566928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REVOKE A SOURCE →</a:t>
            </a:r>
          </a:p>
        </p:txBody>
      </p:sp>
      <p:sp>
        <p:nvSpPr>
          <p:cNvPr id="135" name="Shape 6"/>
          <p:cNvSpPr/>
          <p:nvPr/>
        </p:nvSpPr>
        <p:spPr>
          <a:xfrm>
            <a:off x="950975" y="4032503"/>
            <a:ext cx="128017" cy="128017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7"/>
          <p:cNvSpPr txBox="1"/>
          <p:nvPr/>
        </p:nvSpPr>
        <p:spPr>
          <a:xfrm>
            <a:off x="1252727" y="4122859"/>
            <a:ext cx="53949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79FC7"/>
                </a:solidFill>
              </a:defRPr>
            </a:lvl1pPr>
          </a:lstStyle>
          <a:p>
            <a:pPr/>
            <a:r>
              <a:t>Derivatives store lineage only — never a cached permission.</a:t>
            </a:r>
          </a:p>
        </p:txBody>
      </p:sp>
      <p:sp>
        <p:nvSpPr>
          <p:cNvPr id="137" name="Shape 8"/>
          <p:cNvSpPr/>
          <p:nvPr/>
        </p:nvSpPr>
        <p:spPr>
          <a:xfrm>
            <a:off x="950975" y="4535423"/>
            <a:ext cx="128017" cy="128017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9"/>
          <p:cNvSpPr txBox="1"/>
          <p:nvPr/>
        </p:nvSpPr>
        <p:spPr>
          <a:xfrm>
            <a:off x="1252727" y="4625778"/>
            <a:ext cx="53949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79FC7"/>
                </a:solidFill>
              </a:defRPr>
            </a:lvl1pPr>
          </a:lstStyle>
          <a:p>
            <a:pPr/>
            <a:r>
              <a:t>So there is nothing to invalidate, no cache to hunt.</a:t>
            </a:r>
          </a:p>
        </p:txBody>
      </p:sp>
      <p:sp>
        <p:nvSpPr>
          <p:cNvPr id="139" name="Shape 10"/>
          <p:cNvSpPr/>
          <p:nvPr/>
        </p:nvSpPr>
        <p:spPr>
          <a:xfrm>
            <a:off x="950975" y="5038344"/>
            <a:ext cx="128017" cy="128017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11"/>
          <p:cNvSpPr txBox="1"/>
          <p:nvPr/>
        </p:nvSpPr>
        <p:spPr>
          <a:xfrm>
            <a:off x="1252727" y="5128698"/>
            <a:ext cx="539496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A79FC7"/>
                </a:solidFill>
              </a:defRPr>
            </a:lvl1pPr>
          </a:lstStyle>
          <a:p>
            <a:pPr/>
            <a:r>
              <a:t>The next read simply recomputes the intersection → ∅.</a:t>
            </a:r>
          </a:p>
        </p:txBody>
      </p:sp>
      <p:sp>
        <p:nvSpPr>
          <p:cNvPr id="141" name="Shape 12"/>
          <p:cNvSpPr/>
          <p:nvPr/>
        </p:nvSpPr>
        <p:spPr>
          <a:xfrm>
            <a:off x="950975" y="5541264"/>
            <a:ext cx="128017" cy="128017"/>
          </a:xfrm>
          <a:prstGeom prst="ellipse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13"/>
          <p:cNvSpPr txBox="1"/>
          <p:nvPr/>
        </p:nvSpPr>
        <p:spPr>
          <a:xfrm>
            <a:off x="1252727" y="5631619"/>
            <a:ext cx="539496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5F3FF"/>
                </a:solidFill>
              </a:defRPr>
            </a:lvl1pPr>
          </a:lstStyle>
          <a:p>
            <a:pPr/>
            <a:r>
              <a:t>A summary of a board deck cannot outlive the deck's access.</a:t>
            </a:r>
          </a:p>
        </p:txBody>
      </p:sp>
      <p:sp>
        <p:nvSpPr>
          <p:cNvPr id="143" name="Shape 14"/>
          <p:cNvSpPr/>
          <p:nvPr/>
        </p:nvSpPr>
        <p:spPr>
          <a:xfrm>
            <a:off x="7635240" y="1920239"/>
            <a:ext cx="3566161" cy="3566162"/>
          </a:xfrm>
          <a:prstGeom prst="ellipse">
            <a:avLst/>
          </a:prstGeom>
          <a:ln w="1905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15"/>
          <p:cNvSpPr/>
          <p:nvPr/>
        </p:nvSpPr>
        <p:spPr>
          <a:xfrm>
            <a:off x="8046719" y="2331720"/>
            <a:ext cx="2743201" cy="2743201"/>
          </a:xfrm>
          <a:prstGeom prst="ellipse">
            <a:avLst/>
          </a:prstGeom>
          <a:ln w="27940">
            <a:solidFill>
              <a:srgbClr val="6D4A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16"/>
          <p:cNvSpPr/>
          <p:nvPr/>
        </p:nvSpPr>
        <p:spPr>
          <a:xfrm>
            <a:off x="8485631" y="2770632"/>
            <a:ext cx="1865377" cy="1865377"/>
          </a:xfrm>
          <a:prstGeom prst="ellipse">
            <a:avLst/>
          </a:prstGeom>
          <a:ln w="2794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17"/>
          <p:cNvSpPr/>
          <p:nvPr/>
        </p:nvSpPr>
        <p:spPr>
          <a:xfrm>
            <a:off x="8915399" y="3200399"/>
            <a:ext cx="1005842" cy="1005842"/>
          </a:xfrm>
          <a:prstGeom prst="ellipse">
            <a:avLst/>
          </a:prstGeom>
          <a:solidFill>
            <a:srgbClr val="2A15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18"/>
          <p:cNvSpPr txBox="1"/>
          <p:nvPr/>
        </p:nvSpPr>
        <p:spPr>
          <a:xfrm>
            <a:off x="8915400" y="3606198"/>
            <a:ext cx="1005839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</a:t>
            </a:r>
          </a:p>
        </p:txBody>
      </p:sp>
      <p:sp>
        <p:nvSpPr>
          <p:cNvPr id="148" name="Text 19"/>
          <p:cNvSpPr txBox="1"/>
          <p:nvPr/>
        </p:nvSpPr>
        <p:spPr>
          <a:xfrm>
            <a:off x="8229600" y="5748196"/>
            <a:ext cx="2377440" cy="299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100">
                <a:solidFill>
                  <a:srgbClr val="A79FC7"/>
                </a:solidFill>
              </a:defRPr>
            </a:pPr>
            <a:r>
              <a:t>summary inherits</a:t>
            </a:r>
          </a:p>
          <a:p>
            <a:pPr algn="ctr">
              <a:defRPr sz="1100">
                <a:solidFill>
                  <a:srgbClr val="A79FC7"/>
                </a:solidFill>
              </a:defRPr>
            </a:pPr>
            <a:r>
              <a:t>both sources</a:t>
            </a:r>
          </a:p>
        </p:txBody>
      </p:sp>
      <p:sp>
        <p:nvSpPr>
          <p:cNvPr id="149" name="Text 20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150" name="Text 21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DEMO — THE UNDENIABLE WIN</a:t>
            </a:r>
          </a:p>
        </p:txBody>
      </p:sp>
      <p:sp>
        <p:nvSpPr>
          <p:cNvPr id="155" name="Text 1"/>
          <p:cNvSpPr txBox="1"/>
          <p:nvPr/>
        </p:nvSpPr>
        <p:spPr>
          <a:xfrm>
            <a:off x="566927" y="749808"/>
            <a:ext cx="11055098" cy="942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Revoke the board deck. Its AI summaries vanish — for everyone.</a:t>
            </a:r>
          </a:p>
        </p:txBody>
      </p:sp>
      <p:sp>
        <p:nvSpPr>
          <p:cNvPr id="156" name="Shape 2"/>
          <p:cNvSpPr/>
          <p:nvPr/>
        </p:nvSpPr>
        <p:spPr>
          <a:xfrm>
            <a:off x="566927" y="1874520"/>
            <a:ext cx="6126481" cy="4206241"/>
          </a:xfrm>
          <a:prstGeom prst="roundRect">
            <a:avLst>
              <a:gd name="adj" fmla="val 1957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Text 3"/>
          <p:cNvSpPr txBox="1"/>
          <p:nvPr/>
        </p:nvSpPr>
        <p:spPr>
          <a:xfrm>
            <a:off x="859536" y="2208112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58" name="Text 4"/>
          <p:cNvSpPr txBox="1"/>
          <p:nvPr/>
        </p:nvSpPr>
        <p:spPr>
          <a:xfrm>
            <a:off x="1389887" y="2158306"/>
            <a:ext cx="51206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Inherited permission</a:t>
            </a:r>
          </a:p>
        </p:txBody>
      </p:sp>
      <p:sp>
        <p:nvSpPr>
          <p:cNvPr id="159" name="Text 5"/>
          <p:cNvSpPr txBox="1"/>
          <p:nvPr/>
        </p:nvSpPr>
        <p:spPr>
          <a:xfrm>
            <a:off x="1389887" y="2560373"/>
            <a:ext cx="507492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MEM-01 summarises a board deck + a public blog. It needs {board} — because one parent does.</a:t>
            </a:r>
          </a:p>
        </p:txBody>
      </p:sp>
      <p:sp>
        <p:nvSpPr>
          <p:cNvPr id="160" name="Text 6"/>
          <p:cNvSpPr txBox="1"/>
          <p:nvPr/>
        </p:nvSpPr>
        <p:spPr>
          <a:xfrm>
            <a:off x="859536" y="3177376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1" name="Text 7"/>
          <p:cNvSpPr txBox="1"/>
          <p:nvPr/>
        </p:nvSpPr>
        <p:spPr>
          <a:xfrm>
            <a:off x="1389887" y="3127570"/>
            <a:ext cx="51206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Switch viewer</a:t>
            </a:r>
          </a:p>
        </p:txBody>
      </p:sp>
      <p:sp>
        <p:nvSpPr>
          <p:cNvPr id="162" name="Text 8"/>
          <p:cNvSpPr txBox="1"/>
          <p:nvPr/>
        </p:nvSpPr>
        <p:spPr>
          <a:xfrm>
            <a:off x="1389887" y="3529637"/>
            <a:ext cx="507492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Bob (Eng) → DENY. Dana (Board∧Eng) → sees the infra↔board note no one else can.</a:t>
            </a:r>
          </a:p>
        </p:txBody>
      </p:sp>
      <p:sp>
        <p:nvSpPr>
          <p:cNvPr id="163" name="Text 9"/>
          <p:cNvSpPr txBox="1"/>
          <p:nvPr/>
        </p:nvSpPr>
        <p:spPr>
          <a:xfrm>
            <a:off x="859536" y="4146640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64" name="Text 10"/>
          <p:cNvSpPr txBox="1"/>
          <p:nvPr/>
        </p:nvSpPr>
        <p:spPr>
          <a:xfrm>
            <a:off x="1389887" y="4096833"/>
            <a:ext cx="5120642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Revoke the source</a:t>
            </a:r>
          </a:p>
        </p:txBody>
      </p:sp>
      <p:sp>
        <p:nvSpPr>
          <p:cNvPr id="165" name="Text 11"/>
          <p:cNvSpPr txBox="1"/>
          <p:nvPr/>
        </p:nvSpPr>
        <p:spPr>
          <a:xfrm>
            <a:off x="1389887" y="4498901"/>
            <a:ext cx="507492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Revoke SRC-01. MEM-01 &amp; MEM-03 slam a REVOKED stamp and disappear — instantly, for all.</a:t>
            </a:r>
          </a:p>
        </p:txBody>
      </p:sp>
      <p:sp>
        <p:nvSpPr>
          <p:cNvPr id="166" name="Text 12"/>
          <p:cNvSpPr txBox="1"/>
          <p:nvPr/>
        </p:nvSpPr>
        <p:spPr>
          <a:xfrm>
            <a:off x="859536" y="5115904"/>
            <a:ext cx="45720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67" name="Text 13"/>
          <p:cNvSpPr txBox="1"/>
          <p:nvPr/>
        </p:nvSpPr>
        <p:spPr>
          <a:xfrm>
            <a:off x="1389887" y="5066098"/>
            <a:ext cx="5120642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Advance +30 days</a:t>
            </a:r>
          </a:p>
        </p:txBody>
      </p:sp>
      <p:sp>
        <p:nvSpPr>
          <p:cNvPr id="168" name="Text 14"/>
          <p:cNvSpPr txBox="1"/>
          <p:nvPr/>
        </p:nvSpPr>
        <p:spPr>
          <a:xfrm>
            <a:off x="1389887" y="5468165"/>
            <a:ext cx="5074922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A leadership call embargoed for 30 days unlocks under normal ACLs. Same engine, a time axis.</a:t>
            </a:r>
          </a:p>
        </p:txBody>
      </p:sp>
      <p:sp>
        <p:nvSpPr>
          <p:cNvPr id="169" name="Text 15"/>
          <p:cNvSpPr txBox="1"/>
          <p:nvPr/>
        </p:nvSpPr>
        <p:spPr>
          <a:xfrm>
            <a:off x="7104888" y="1943907"/>
            <a:ext cx="4517136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50" sz="10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PERSONA × MEMORY — COMPUTED, NOT CACHED</a:t>
            </a:r>
          </a:p>
        </p:txBody>
      </p:sp>
      <p:sp>
        <p:nvSpPr>
          <p:cNvPr id="170" name="Text 16"/>
          <p:cNvSpPr txBox="1"/>
          <p:nvPr/>
        </p:nvSpPr>
        <p:spPr>
          <a:xfrm>
            <a:off x="8339328" y="2326385"/>
            <a:ext cx="820675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Alice</a:t>
            </a:r>
          </a:p>
        </p:txBody>
      </p:sp>
      <p:sp>
        <p:nvSpPr>
          <p:cNvPr id="171" name="Text 17"/>
          <p:cNvSpPr txBox="1"/>
          <p:nvPr/>
        </p:nvSpPr>
        <p:spPr>
          <a:xfrm>
            <a:off x="9160002" y="2326385"/>
            <a:ext cx="820675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Dana</a:t>
            </a:r>
          </a:p>
        </p:txBody>
      </p:sp>
      <p:sp>
        <p:nvSpPr>
          <p:cNvPr id="172" name="Text 18"/>
          <p:cNvSpPr txBox="1"/>
          <p:nvPr/>
        </p:nvSpPr>
        <p:spPr>
          <a:xfrm>
            <a:off x="9980676" y="2326385"/>
            <a:ext cx="820675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Bob</a:t>
            </a:r>
          </a:p>
        </p:txBody>
      </p:sp>
      <p:sp>
        <p:nvSpPr>
          <p:cNvPr id="173" name="Text 19"/>
          <p:cNvSpPr txBox="1"/>
          <p:nvPr/>
        </p:nvSpPr>
        <p:spPr>
          <a:xfrm>
            <a:off x="10801350" y="2326385"/>
            <a:ext cx="8206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Carol</a:t>
            </a:r>
          </a:p>
        </p:txBody>
      </p:sp>
      <p:sp>
        <p:nvSpPr>
          <p:cNvPr id="174" name="Shape 20"/>
          <p:cNvSpPr/>
          <p:nvPr/>
        </p:nvSpPr>
        <p:spPr>
          <a:xfrm>
            <a:off x="7104888" y="2651760"/>
            <a:ext cx="4517136" cy="731521"/>
          </a:xfrm>
          <a:prstGeom prst="roundRect">
            <a:avLst>
              <a:gd name="adj" fmla="val 7500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21"/>
          <p:cNvSpPr txBox="1"/>
          <p:nvPr/>
        </p:nvSpPr>
        <p:spPr>
          <a:xfrm>
            <a:off x="7251192" y="2798524"/>
            <a:ext cx="10972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MEM-01</a:t>
            </a:r>
          </a:p>
        </p:txBody>
      </p:sp>
      <p:sp>
        <p:nvSpPr>
          <p:cNvPr id="176" name="Text 22"/>
          <p:cNvSpPr txBox="1"/>
          <p:nvPr/>
        </p:nvSpPr>
        <p:spPr>
          <a:xfrm>
            <a:off x="7251192" y="3127755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79FC7"/>
                </a:solidFill>
              </a:defRPr>
            </a:lvl1pPr>
          </a:lstStyle>
          <a:p>
            <a:pPr/>
            <a:r>
              <a:t>board deck summary</a:t>
            </a:r>
          </a:p>
        </p:txBody>
      </p:sp>
      <p:sp>
        <p:nvSpPr>
          <p:cNvPr id="177" name="Shape 23"/>
          <p:cNvSpPr/>
          <p:nvPr/>
        </p:nvSpPr>
        <p:spPr>
          <a:xfrm>
            <a:off x="8603360" y="2871216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4"/>
          <p:cNvSpPr txBox="1"/>
          <p:nvPr/>
        </p:nvSpPr>
        <p:spPr>
          <a:xfrm>
            <a:off x="8603360" y="2922270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79" name="Shape 25"/>
          <p:cNvSpPr/>
          <p:nvPr/>
        </p:nvSpPr>
        <p:spPr>
          <a:xfrm>
            <a:off x="9424034" y="2871216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6"/>
          <p:cNvSpPr txBox="1"/>
          <p:nvPr/>
        </p:nvSpPr>
        <p:spPr>
          <a:xfrm>
            <a:off x="9424034" y="2922270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81" name="Shape 27"/>
          <p:cNvSpPr/>
          <p:nvPr/>
        </p:nvSpPr>
        <p:spPr>
          <a:xfrm>
            <a:off x="10244708" y="2871216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28"/>
          <p:cNvSpPr txBox="1"/>
          <p:nvPr/>
        </p:nvSpPr>
        <p:spPr>
          <a:xfrm>
            <a:off x="10244708" y="2941320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183" name="Shape 29"/>
          <p:cNvSpPr/>
          <p:nvPr/>
        </p:nvSpPr>
        <p:spPr>
          <a:xfrm>
            <a:off x="11065382" y="2871216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30"/>
          <p:cNvSpPr txBox="1"/>
          <p:nvPr/>
        </p:nvSpPr>
        <p:spPr>
          <a:xfrm>
            <a:off x="11065382" y="2941320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185" name="Shape 31"/>
          <p:cNvSpPr/>
          <p:nvPr/>
        </p:nvSpPr>
        <p:spPr>
          <a:xfrm>
            <a:off x="7104888" y="3493008"/>
            <a:ext cx="4517136" cy="731521"/>
          </a:xfrm>
          <a:prstGeom prst="roundRect">
            <a:avLst>
              <a:gd name="adj" fmla="val 750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32"/>
          <p:cNvSpPr txBox="1"/>
          <p:nvPr/>
        </p:nvSpPr>
        <p:spPr>
          <a:xfrm>
            <a:off x="7251192" y="3639772"/>
            <a:ext cx="1097281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MEM-02</a:t>
            </a:r>
          </a:p>
        </p:txBody>
      </p:sp>
      <p:sp>
        <p:nvSpPr>
          <p:cNvPr id="187" name="Text 33"/>
          <p:cNvSpPr txBox="1"/>
          <p:nvPr/>
        </p:nvSpPr>
        <p:spPr>
          <a:xfrm>
            <a:off x="7251192" y="3969004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79FC7"/>
                </a:solidFill>
              </a:defRPr>
            </a:lvl1pPr>
          </a:lstStyle>
          <a:p>
            <a:pPr/>
            <a:r>
              <a:t>public blog note</a:t>
            </a:r>
          </a:p>
        </p:txBody>
      </p:sp>
      <p:sp>
        <p:nvSpPr>
          <p:cNvPr id="188" name="Shape 34"/>
          <p:cNvSpPr/>
          <p:nvPr/>
        </p:nvSpPr>
        <p:spPr>
          <a:xfrm>
            <a:off x="8603360" y="3712464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35"/>
          <p:cNvSpPr txBox="1"/>
          <p:nvPr/>
        </p:nvSpPr>
        <p:spPr>
          <a:xfrm>
            <a:off x="8603360" y="3763518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0" name="Shape 36"/>
          <p:cNvSpPr/>
          <p:nvPr/>
        </p:nvSpPr>
        <p:spPr>
          <a:xfrm>
            <a:off x="9424034" y="3712464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37"/>
          <p:cNvSpPr txBox="1"/>
          <p:nvPr/>
        </p:nvSpPr>
        <p:spPr>
          <a:xfrm>
            <a:off x="9424034" y="3763518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" name="Shape 38"/>
          <p:cNvSpPr/>
          <p:nvPr/>
        </p:nvSpPr>
        <p:spPr>
          <a:xfrm>
            <a:off x="10244708" y="3712464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39"/>
          <p:cNvSpPr txBox="1"/>
          <p:nvPr/>
        </p:nvSpPr>
        <p:spPr>
          <a:xfrm>
            <a:off x="10244708" y="3763518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" name="Shape 40"/>
          <p:cNvSpPr/>
          <p:nvPr/>
        </p:nvSpPr>
        <p:spPr>
          <a:xfrm>
            <a:off x="11065382" y="3712464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41"/>
          <p:cNvSpPr txBox="1"/>
          <p:nvPr/>
        </p:nvSpPr>
        <p:spPr>
          <a:xfrm>
            <a:off x="11065382" y="3763518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6" name="Shape 42"/>
          <p:cNvSpPr/>
          <p:nvPr/>
        </p:nvSpPr>
        <p:spPr>
          <a:xfrm>
            <a:off x="7104888" y="4334255"/>
            <a:ext cx="4517136" cy="731521"/>
          </a:xfrm>
          <a:prstGeom prst="roundRect">
            <a:avLst>
              <a:gd name="adj" fmla="val 7500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43"/>
          <p:cNvSpPr txBox="1"/>
          <p:nvPr/>
        </p:nvSpPr>
        <p:spPr>
          <a:xfrm>
            <a:off x="7251192" y="4481020"/>
            <a:ext cx="10972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MEM-03</a:t>
            </a:r>
          </a:p>
        </p:txBody>
      </p:sp>
      <p:sp>
        <p:nvSpPr>
          <p:cNvPr id="198" name="Text 44"/>
          <p:cNvSpPr txBox="1"/>
          <p:nvPr/>
        </p:nvSpPr>
        <p:spPr>
          <a:xfrm>
            <a:off x="7251192" y="4810251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79FC7"/>
                </a:solidFill>
              </a:defRPr>
            </a:lvl1pPr>
          </a:lstStyle>
          <a:p>
            <a:pPr/>
            <a:r>
              <a:t>infra ∧ board</a:t>
            </a:r>
          </a:p>
        </p:txBody>
      </p:sp>
      <p:sp>
        <p:nvSpPr>
          <p:cNvPr id="199" name="Shape 45"/>
          <p:cNvSpPr/>
          <p:nvPr/>
        </p:nvSpPr>
        <p:spPr>
          <a:xfrm>
            <a:off x="8603360" y="4553711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46"/>
          <p:cNvSpPr txBox="1"/>
          <p:nvPr/>
        </p:nvSpPr>
        <p:spPr>
          <a:xfrm>
            <a:off x="8603360" y="4623815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01" name="Shape 47"/>
          <p:cNvSpPr/>
          <p:nvPr/>
        </p:nvSpPr>
        <p:spPr>
          <a:xfrm>
            <a:off x="9424034" y="4553711"/>
            <a:ext cx="292609" cy="292609"/>
          </a:xfrm>
          <a:prstGeom prst="ellipse">
            <a:avLst/>
          </a:prstGeom>
          <a:solidFill>
            <a:srgbClr val="10241C"/>
          </a:solidFill>
          <a:ln w="1778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48"/>
          <p:cNvSpPr txBox="1"/>
          <p:nvPr/>
        </p:nvSpPr>
        <p:spPr>
          <a:xfrm>
            <a:off x="9424034" y="4604765"/>
            <a:ext cx="29260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" name="Shape 49"/>
          <p:cNvSpPr/>
          <p:nvPr/>
        </p:nvSpPr>
        <p:spPr>
          <a:xfrm>
            <a:off x="10244708" y="4553711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50"/>
          <p:cNvSpPr txBox="1"/>
          <p:nvPr/>
        </p:nvSpPr>
        <p:spPr>
          <a:xfrm>
            <a:off x="10244708" y="4623815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05" name="Shape 51"/>
          <p:cNvSpPr/>
          <p:nvPr/>
        </p:nvSpPr>
        <p:spPr>
          <a:xfrm>
            <a:off x="11065382" y="4553711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52"/>
          <p:cNvSpPr txBox="1"/>
          <p:nvPr/>
        </p:nvSpPr>
        <p:spPr>
          <a:xfrm>
            <a:off x="11065382" y="4623815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07" name="Shape 53"/>
          <p:cNvSpPr/>
          <p:nvPr/>
        </p:nvSpPr>
        <p:spPr>
          <a:xfrm>
            <a:off x="7104888" y="5175503"/>
            <a:ext cx="4517136" cy="731521"/>
          </a:xfrm>
          <a:prstGeom prst="roundRect">
            <a:avLst>
              <a:gd name="adj" fmla="val 750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54"/>
          <p:cNvSpPr txBox="1"/>
          <p:nvPr/>
        </p:nvSpPr>
        <p:spPr>
          <a:xfrm>
            <a:off x="7251192" y="5322268"/>
            <a:ext cx="10972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MEM-04</a:t>
            </a:r>
          </a:p>
        </p:txBody>
      </p:sp>
      <p:sp>
        <p:nvSpPr>
          <p:cNvPr id="209" name="Text 55"/>
          <p:cNvSpPr txBox="1"/>
          <p:nvPr/>
        </p:nvSpPr>
        <p:spPr>
          <a:xfrm>
            <a:off x="7251192" y="5651500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79FC7"/>
                </a:solidFill>
              </a:defRPr>
            </a:lvl1pPr>
          </a:lstStyle>
          <a:p>
            <a:pPr/>
            <a:r>
              <a:t>+30d embargo</a:t>
            </a:r>
          </a:p>
        </p:txBody>
      </p:sp>
      <p:sp>
        <p:nvSpPr>
          <p:cNvPr id="210" name="Shape 56"/>
          <p:cNvSpPr/>
          <p:nvPr/>
        </p:nvSpPr>
        <p:spPr>
          <a:xfrm>
            <a:off x="8603360" y="5394959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57"/>
          <p:cNvSpPr txBox="1"/>
          <p:nvPr/>
        </p:nvSpPr>
        <p:spPr>
          <a:xfrm>
            <a:off x="8603360" y="5465063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12" name="Shape 58"/>
          <p:cNvSpPr/>
          <p:nvPr/>
        </p:nvSpPr>
        <p:spPr>
          <a:xfrm>
            <a:off x="9424034" y="5394959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Text 59"/>
          <p:cNvSpPr txBox="1"/>
          <p:nvPr/>
        </p:nvSpPr>
        <p:spPr>
          <a:xfrm>
            <a:off x="9424034" y="5465063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14" name="Shape 60"/>
          <p:cNvSpPr/>
          <p:nvPr/>
        </p:nvSpPr>
        <p:spPr>
          <a:xfrm>
            <a:off x="10244708" y="5394959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61"/>
          <p:cNvSpPr txBox="1"/>
          <p:nvPr/>
        </p:nvSpPr>
        <p:spPr>
          <a:xfrm>
            <a:off x="10244708" y="5465063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16" name="Shape 62"/>
          <p:cNvSpPr/>
          <p:nvPr/>
        </p:nvSpPr>
        <p:spPr>
          <a:xfrm>
            <a:off x="11065382" y="5394959"/>
            <a:ext cx="292609" cy="292609"/>
          </a:xfrm>
          <a:prstGeom prst="ellipse">
            <a:avLst/>
          </a:prstGeom>
          <a:solidFill>
            <a:srgbClr val="2A1520"/>
          </a:solidFill>
          <a:ln w="1778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63"/>
          <p:cNvSpPr txBox="1"/>
          <p:nvPr/>
        </p:nvSpPr>
        <p:spPr>
          <a:xfrm>
            <a:off x="11065382" y="5465063"/>
            <a:ext cx="292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218" name="Text 64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219" name="Text 65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 JUST A DATABASE GATE — A REAL MEMORY SYSTEM</a:t>
            </a:r>
          </a:p>
        </p:txBody>
      </p:sp>
      <p:sp>
        <p:nvSpPr>
          <p:cNvPr id="224" name="Text 1"/>
          <p:cNvSpPr txBox="1"/>
          <p:nvPr/>
        </p:nvSpPr>
        <p:spPr>
          <a:xfrm>
            <a:off x="566927" y="749808"/>
            <a:ext cx="11055098" cy="942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Relevance ranks the secret #1. The gate drops it anyway.</a:t>
            </a:r>
          </a:p>
        </p:txBody>
      </p:sp>
      <p:sp>
        <p:nvSpPr>
          <p:cNvPr id="225" name="Text 2"/>
          <p:cNvSpPr txBox="1"/>
          <p:nvPr/>
        </p:nvSpPr>
        <p:spPr>
          <a:xfrm>
            <a:off x="566927" y="1779840"/>
            <a:ext cx="106070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A79FC7"/>
                </a:solidFill>
              </a:defRPr>
            </a:lvl1pPr>
          </a:lstStyle>
          <a:p>
            <a:pPr/>
            <a:r>
              <a:t>npm run vector  embeds a corpus, runs a genuine cosine nearest-neighbour search, then runs the same engine over the hits:</a:t>
            </a:r>
          </a:p>
        </p:txBody>
      </p:sp>
      <p:sp>
        <p:nvSpPr>
          <p:cNvPr id="226" name="Shape 3"/>
          <p:cNvSpPr/>
          <p:nvPr/>
        </p:nvSpPr>
        <p:spPr>
          <a:xfrm>
            <a:off x="566927" y="2331720"/>
            <a:ext cx="3441193" cy="3063241"/>
          </a:xfrm>
          <a:prstGeom prst="roundRect">
            <a:avLst>
              <a:gd name="adj" fmla="val 2687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Text 4"/>
          <p:cNvSpPr txBox="1"/>
          <p:nvPr/>
        </p:nvSpPr>
        <p:spPr>
          <a:xfrm>
            <a:off x="841247" y="2625249"/>
            <a:ext cx="54864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B718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8" name="Text 5"/>
          <p:cNvSpPr txBox="1"/>
          <p:nvPr/>
        </p:nvSpPr>
        <p:spPr>
          <a:xfrm>
            <a:off x="841247" y="3289368"/>
            <a:ext cx="2892554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Query: "what's our Q3 budget?"</a:t>
            </a:r>
          </a:p>
        </p:txBody>
      </p:sp>
      <p:sp>
        <p:nvSpPr>
          <p:cNvPr id="229" name="Text 6"/>
          <p:cNvSpPr txBox="1"/>
          <p:nvPr/>
        </p:nvSpPr>
        <p:spPr>
          <a:xfrm>
            <a:off x="841247" y="4130631"/>
            <a:ext cx="2892554" cy="55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Semantic search ranks a CONFIDENTIAL board deck as the #1 hit. Relevance has no idea it's restricted.</a:t>
            </a:r>
          </a:p>
        </p:txBody>
      </p:sp>
      <p:sp>
        <p:nvSpPr>
          <p:cNvPr id="230" name="Shape 7"/>
          <p:cNvSpPr/>
          <p:nvPr/>
        </p:nvSpPr>
        <p:spPr>
          <a:xfrm>
            <a:off x="841247" y="4919471"/>
            <a:ext cx="2892553" cy="329185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FB718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8"/>
          <p:cNvSpPr txBox="1"/>
          <p:nvPr/>
        </p:nvSpPr>
        <p:spPr>
          <a:xfrm>
            <a:off x="841247" y="5015528"/>
            <a:ext cx="28925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B7185"/>
                </a:solidFill>
              </a:defRPr>
            </a:lvl1pPr>
          </a:lstStyle>
          <a:p>
            <a:pPr/>
            <a:r>
              <a:t>similarity ≠ permission</a:t>
            </a:r>
          </a:p>
        </p:txBody>
      </p:sp>
      <p:sp>
        <p:nvSpPr>
          <p:cNvPr id="232" name="Shape 9"/>
          <p:cNvSpPr/>
          <p:nvPr/>
        </p:nvSpPr>
        <p:spPr>
          <a:xfrm>
            <a:off x="4373879" y="2331720"/>
            <a:ext cx="3441193" cy="3063241"/>
          </a:xfrm>
          <a:prstGeom prst="roundRect">
            <a:avLst>
              <a:gd name="adj" fmla="val 2687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" name="Text 10"/>
          <p:cNvSpPr txBox="1"/>
          <p:nvPr/>
        </p:nvSpPr>
        <p:spPr>
          <a:xfrm>
            <a:off x="4648199" y="2625249"/>
            <a:ext cx="548642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4" name="Text 11"/>
          <p:cNvSpPr txBox="1"/>
          <p:nvPr/>
        </p:nvSpPr>
        <p:spPr>
          <a:xfrm>
            <a:off x="4648199" y="3397318"/>
            <a:ext cx="289255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gate runs after the search</a:t>
            </a:r>
          </a:p>
        </p:txBody>
      </p:sp>
      <p:sp>
        <p:nvSpPr>
          <p:cNvPr id="235" name="Text 12"/>
          <p:cNvSpPr txBox="1"/>
          <p:nvPr/>
        </p:nvSpPr>
        <p:spPr>
          <a:xfrm>
            <a:off x="4648199" y="4130631"/>
            <a:ext cx="2892554" cy="55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Effective audience is computed from lineage, clock-aware — over the ranked hits, deterministically.</a:t>
            </a:r>
          </a:p>
        </p:txBody>
      </p:sp>
      <p:sp>
        <p:nvSpPr>
          <p:cNvPr id="236" name="Shape 13"/>
          <p:cNvSpPr/>
          <p:nvPr/>
        </p:nvSpPr>
        <p:spPr>
          <a:xfrm>
            <a:off x="4648200" y="4919471"/>
            <a:ext cx="2892552" cy="329185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14"/>
          <p:cNvSpPr txBox="1"/>
          <p:nvPr/>
        </p:nvSpPr>
        <p:spPr>
          <a:xfrm>
            <a:off x="4648199" y="5015528"/>
            <a:ext cx="2892554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8B5CF6"/>
                </a:solidFill>
              </a:defRPr>
            </a:lvl1pPr>
          </a:lstStyle>
          <a:p>
            <a:pPr/>
            <a:r>
              <a:t>0 LLM · sub-µs</a:t>
            </a:r>
          </a:p>
        </p:txBody>
      </p:sp>
      <p:sp>
        <p:nvSpPr>
          <p:cNvPr id="238" name="Shape 15"/>
          <p:cNvSpPr/>
          <p:nvPr/>
        </p:nvSpPr>
        <p:spPr>
          <a:xfrm>
            <a:off x="8180831" y="2331720"/>
            <a:ext cx="3441193" cy="3063241"/>
          </a:xfrm>
          <a:prstGeom prst="roundRect">
            <a:avLst>
              <a:gd name="adj" fmla="val 2687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9" name="Text 16"/>
          <p:cNvSpPr txBox="1"/>
          <p:nvPr/>
        </p:nvSpPr>
        <p:spPr>
          <a:xfrm>
            <a:off x="8455152" y="2625249"/>
            <a:ext cx="54864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40" name="Text 17"/>
          <p:cNvSpPr txBox="1"/>
          <p:nvPr/>
        </p:nvSpPr>
        <p:spPr>
          <a:xfrm>
            <a:off x="8455152" y="3397318"/>
            <a:ext cx="28925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query, two viewers</a:t>
            </a:r>
          </a:p>
        </p:txBody>
      </p:sp>
      <p:sp>
        <p:nvSpPr>
          <p:cNvPr id="241" name="Text 18"/>
          <p:cNvSpPr txBox="1"/>
          <p:nvPr/>
        </p:nvSpPr>
        <p:spPr>
          <a:xfrm>
            <a:off x="8455152" y="4130631"/>
            <a:ext cx="2892553" cy="55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Board member → sees it. Contractor → it's gone. Enforcement, not relevance, decides visibility.</a:t>
            </a:r>
          </a:p>
        </p:txBody>
      </p:sp>
      <p:sp>
        <p:nvSpPr>
          <p:cNvPr id="242" name="Shape 19"/>
          <p:cNvSpPr/>
          <p:nvPr/>
        </p:nvSpPr>
        <p:spPr>
          <a:xfrm>
            <a:off x="8455152" y="4919471"/>
            <a:ext cx="2892553" cy="329185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20"/>
          <p:cNvSpPr txBox="1"/>
          <p:nvPr/>
        </p:nvSpPr>
        <p:spPr>
          <a:xfrm>
            <a:off x="8455152" y="5015528"/>
            <a:ext cx="2892553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34D399"/>
                </a:solidFill>
              </a:defRPr>
            </a:lvl1pPr>
          </a:lstStyle>
          <a:p>
            <a:pPr/>
            <a:r>
              <a:t>swap Pinecone / pgvector freely</a:t>
            </a:r>
          </a:p>
        </p:txBody>
      </p:sp>
      <p:sp>
        <p:nvSpPr>
          <p:cNvPr id="244" name="Text 21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245" name="Text 22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PROOF, NOT PROMISES</a:t>
            </a:r>
          </a:p>
        </p:txBody>
      </p:sp>
      <p:sp>
        <p:nvSpPr>
          <p:cNvPr id="250" name="Text 1"/>
          <p:cNvSpPr txBox="1"/>
          <p:nvPr/>
        </p:nvSpPr>
        <p:spPr>
          <a:xfrm>
            <a:off x="566927" y="749808"/>
            <a:ext cx="11055098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claim is tested, benchmarked, and reproducible.</a:t>
            </a:r>
          </a:p>
        </p:txBody>
      </p:sp>
      <p:sp>
        <p:nvSpPr>
          <p:cNvPr id="251" name="Shape 2"/>
          <p:cNvSpPr/>
          <p:nvPr/>
        </p:nvSpPr>
        <p:spPr>
          <a:xfrm>
            <a:off x="566927" y="1828800"/>
            <a:ext cx="2523746" cy="1554481"/>
          </a:xfrm>
          <a:prstGeom prst="roundRect">
            <a:avLst>
              <a:gd name="adj" fmla="val 5294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2" name="Text 3"/>
          <p:cNvSpPr txBox="1"/>
          <p:nvPr/>
        </p:nvSpPr>
        <p:spPr>
          <a:xfrm>
            <a:off x="786383" y="2060699"/>
            <a:ext cx="2084833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3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0.38µs</a:t>
            </a:r>
          </a:p>
        </p:txBody>
      </p:sp>
      <p:sp>
        <p:nvSpPr>
          <p:cNvPr id="253" name="Text 4"/>
          <p:cNvSpPr txBox="1"/>
          <p:nvPr/>
        </p:nvSpPr>
        <p:spPr>
          <a:xfrm>
            <a:off x="786384" y="2808400"/>
            <a:ext cx="2139696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79FC7"/>
                </a:solidFill>
              </a:defRPr>
            </a:lvl1pPr>
          </a:lstStyle>
          <a:p>
            <a:pPr/>
            <a:r>
              <a:t>P99 permission check — ~500,000× under the 200ms budget</a:t>
            </a:r>
          </a:p>
        </p:txBody>
      </p:sp>
      <p:sp>
        <p:nvSpPr>
          <p:cNvPr id="254" name="Shape 5"/>
          <p:cNvSpPr/>
          <p:nvPr/>
        </p:nvSpPr>
        <p:spPr>
          <a:xfrm>
            <a:off x="3410711" y="1828800"/>
            <a:ext cx="2523745" cy="1554481"/>
          </a:xfrm>
          <a:prstGeom prst="roundRect">
            <a:avLst>
              <a:gd name="adj" fmla="val 5294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" name="Text 6"/>
          <p:cNvSpPr txBox="1"/>
          <p:nvPr/>
        </p:nvSpPr>
        <p:spPr>
          <a:xfrm>
            <a:off x="3630167" y="2060699"/>
            <a:ext cx="2084833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3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12,000+</a:t>
            </a:r>
          </a:p>
        </p:txBody>
      </p:sp>
      <p:sp>
        <p:nvSpPr>
          <p:cNvPr id="256" name="Text 7"/>
          <p:cNvSpPr txBox="1"/>
          <p:nvPr/>
        </p:nvSpPr>
        <p:spPr>
          <a:xfrm>
            <a:off x="3630167" y="2808400"/>
            <a:ext cx="2139697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79FC7"/>
                </a:solidFill>
              </a:defRPr>
            </a:lvl1pPr>
          </a:lstStyle>
          <a:p>
            <a:pPr/>
            <a:r>
              <a:t>concurrent reads vs live revoke/restore/clock — zero stale grants</a:t>
            </a:r>
          </a:p>
        </p:txBody>
      </p:sp>
      <p:sp>
        <p:nvSpPr>
          <p:cNvPr id="257" name="Shape 8"/>
          <p:cNvSpPr/>
          <p:nvPr/>
        </p:nvSpPr>
        <p:spPr>
          <a:xfrm>
            <a:off x="6254496" y="1828800"/>
            <a:ext cx="2523745" cy="1554481"/>
          </a:xfrm>
          <a:prstGeom prst="roundRect">
            <a:avLst>
              <a:gd name="adj" fmla="val 5294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8" name="Text 9"/>
          <p:cNvSpPr txBox="1"/>
          <p:nvPr/>
        </p:nvSpPr>
        <p:spPr>
          <a:xfrm>
            <a:off x="6473952" y="2060699"/>
            <a:ext cx="2084833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3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39</a:t>
            </a:r>
          </a:p>
        </p:txBody>
      </p:sp>
      <p:sp>
        <p:nvSpPr>
          <p:cNvPr id="259" name="Text 10"/>
          <p:cNvSpPr txBox="1"/>
          <p:nvPr/>
        </p:nvSpPr>
        <p:spPr>
          <a:xfrm>
            <a:off x="6473952" y="2808400"/>
            <a:ext cx="2139697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79FC7"/>
                </a:solidFill>
              </a:defRPr>
            </a:lvl1pPr>
          </a:lstStyle>
          <a:p>
            <a:pPr/>
            <a:r>
              <a:t>invariant tests, 0 dependencies — runs on the Node standard library</a:t>
            </a:r>
          </a:p>
        </p:txBody>
      </p:sp>
      <p:sp>
        <p:nvSpPr>
          <p:cNvPr id="260" name="Shape 11"/>
          <p:cNvSpPr/>
          <p:nvPr/>
        </p:nvSpPr>
        <p:spPr>
          <a:xfrm>
            <a:off x="9098280" y="1828800"/>
            <a:ext cx="2523745" cy="1554481"/>
          </a:xfrm>
          <a:prstGeom prst="roundRect">
            <a:avLst>
              <a:gd name="adj" fmla="val 5294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1" name="Text 12"/>
          <p:cNvSpPr txBox="1"/>
          <p:nvPr/>
        </p:nvSpPr>
        <p:spPr>
          <a:xfrm>
            <a:off x="9317735" y="2060699"/>
            <a:ext cx="2084833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3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62" name="Text 13"/>
          <p:cNvSpPr txBox="1"/>
          <p:nvPr/>
        </p:nvSpPr>
        <p:spPr>
          <a:xfrm>
            <a:off x="9317735" y="2808400"/>
            <a:ext cx="2139697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79FC7"/>
                </a:solidFill>
              </a:defRPr>
            </a:lvl1pPr>
          </a:lstStyle>
          <a:p>
            <a:pPr/>
            <a:r>
              <a:t>LLM calls on the decision path — pure, reproducible set logic</a:t>
            </a:r>
          </a:p>
        </p:txBody>
      </p:sp>
      <p:sp>
        <p:nvSpPr>
          <p:cNvPr id="263" name="Text 14"/>
          <p:cNvSpPr txBox="1"/>
          <p:nvPr/>
        </p:nvSpPr>
        <p:spPr>
          <a:xfrm>
            <a:off x="566927" y="3766565"/>
            <a:ext cx="1005840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1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BASEDAI CHALLENGE — REQUIREMENTS COVERED</a:t>
            </a:r>
          </a:p>
        </p:txBody>
      </p:sp>
      <p:sp>
        <p:nvSpPr>
          <p:cNvPr id="264" name="Shape 15"/>
          <p:cNvSpPr/>
          <p:nvPr/>
        </p:nvSpPr>
        <p:spPr>
          <a:xfrm>
            <a:off x="566927" y="4069079"/>
            <a:ext cx="3097989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5" name="Text 16"/>
          <p:cNvSpPr txBox="1"/>
          <p:nvPr/>
        </p:nvSpPr>
        <p:spPr>
          <a:xfrm>
            <a:off x="676655" y="4212401"/>
            <a:ext cx="2988261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ACL sync under concurrent updates</a:t>
            </a:r>
          </a:p>
        </p:txBody>
      </p:sp>
      <p:sp>
        <p:nvSpPr>
          <p:cNvPr id="266" name="Shape 17"/>
          <p:cNvSpPr/>
          <p:nvPr/>
        </p:nvSpPr>
        <p:spPr>
          <a:xfrm>
            <a:off x="3847794" y="4069079"/>
            <a:ext cx="3255266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18"/>
          <p:cNvSpPr txBox="1"/>
          <p:nvPr/>
        </p:nvSpPr>
        <p:spPr>
          <a:xfrm>
            <a:off x="3957523" y="4212401"/>
            <a:ext cx="3145537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Retrieval-layer, no LLM in decision</a:t>
            </a:r>
          </a:p>
        </p:txBody>
      </p:sp>
      <p:sp>
        <p:nvSpPr>
          <p:cNvPr id="268" name="Shape 19"/>
          <p:cNvSpPr/>
          <p:nvPr/>
        </p:nvSpPr>
        <p:spPr>
          <a:xfrm>
            <a:off x="7285938" y="4069079"/>
            <a:ext cx="3176628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20"/>
          <p:cNvSpPr txBox="1"/>
          <p:nvPr/>
        </p:nvSpPr>
        <p:spPr>
          <a:xfrm>
            <a:off x="7395667" y="4212401"/>
            <a:ext cx="3066899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Regulator-grade hash-chained audit</a:t>
            </a:r>
          </a:p>
        </p:txBody>
      </p:sp>
      <p:sp>
        <p:nvSpPr>
          <p:cNvPr id="270" name="Shape 21"/>
          <p:cNvSpPr/>
          <p:nvPr/>
        </p:nvSpPr>
        <p:spPr>
          <a:xfrm>
            <a:off x="566927" y="4690871"/>
            <a:ext cx="1525221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22"/>
          <p:cNvSpPr txBox="1"/>
          <p:nvPr/>
        </p:nvSpPr>
        <p:spPr>
          <a:xfrm>
            <a:off x="676655" y="4834193"/>
            <a:ext cx="141549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Sub-200ms P99</a:t>
            </a:r>
          </a:p>
        </p:txBody>
      </p:sp>
      <p:sp>
        <p:nvSpPr>
          <p:cNvPr id="272" name="Shape 23"/>
          <p:cNvSpPr/>
          <p:nvPr/>
        </p:nvSpPr>
        <p:spPr>
          <a:xfrm>
            <a:off x="2275027" y="4690871"/>
            <a:ext cx="2862073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3" name="Text 24"/>
          <p:cNvSpPr txBox="1"/>
          <p:nvPr/>
        </p:nvSpPr>
        <p:spPr>
          <a:xfrm>
            <a:off x="2384755" y="4834193"/>
            <a:ext cx="2752345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Lineage revocation propagation</a:t>
            </a:r>
          </a:p>
        </p:txBody>
      </p:sp>
      <p:sp>
        <p:nvSpPr>
          <p:cNvPr id="274" name="Shape 25"/>
          <p:cNvSpPr/>
          <p:nvPr/>
        </p:nvSpPr>
        <p:spPr>
          <a:xfrm>
            <a:off x="5319979" y="4690871"/>
            <a:ext cx="2154327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26"/>
          <p:cNvSpPr txBox="1"/>
          <p:nvPr/>
        </p:nvSpPr>
        <p:spPr>
          <a:xfrm>
            <a:off x="5429706" y="4834193"/>
            <a:ext cx="2044599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Temporal rules ★bonus</a:t>
            </a:r>
          </a:p>
        </p:txBody>
      </p:sp>
      <p:sp>
        <p:nvSpPr>
          <p:cNvPr id="276" name="Shape 27"/>
          <p:cNvSpPr/>
          <p:nvPr/>
        </p:nvSpPr>
        <p:spPr>
          <a:xfrm>
            <a:off x="7657186" y="4690871"/>
            <a:ext cx="2626158" cy="457201"/>
          </a:xfrm>
          <a:prstGeom prst="roundRect">
            <a:avLst>
              <a:gd name="adj" fmla="val 50000"/>
            </a:avLst>
          </a:prstGeom>
          <a:solidFill>
            <a:srgbClr val="10241C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28"/>
          <p:cNvSpPr txBox="1"/>
          <p:nvPr/>
        </p:nvSpPr>
        <p:spPr>
          <a:xfrm>
            <a:off x="7766914" y="4834193"/>
            <a:ext cx="2516430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Inference prevention ★bonus</a:t>
            </a:r>
          </a:p>
        </p:txBody>
      </p:sp>
      <p:sp>
        <p:nvSpPr>
          <p:cNvPr id="278" name="Text 29"/>
          <p:cNvSpPr txBox="1"/>
          <p:nvPr/>
        </p:nvSpPr>
        <p:spPr>
          <a:xfrm>
            <a:off x="566927" y="5883079"/>
            <a:ext cx="11055098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C4B5FD"/>
                </a:solidFill>
              </a:defRPr>
            </a:lvl1pPr>
          </a:lstStyle>
          <a:p>
            <a:pPr/>
            <a:r>
              <a:t>Verify in 60s:   node --test   ·   node bench/p99.js   ·   npm run vector   ·   npm run demo</a:t>
            </a:r>
          </a:p>
        </p:txBody>
      </p:sp>
      <p:sp>
        <p:nvSpPr>
          <p:cNvPr id="279" name="Text 30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280" name="Text 31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MAKES IT DIFFERENT</a:t>
            </a:r>
          </a:p>
        </p:txBody>
      </p:sp>
      <p:sp>
        <p:nvSpPr>
          <p:cNvPr id="285" name="Text 1"/>
          <p:cNvSpPr txBox="1"/>
          <p:nvPr/>
        </p:nvSpPr>
        <p:spPr>
          <a:xfrm>
            <a:off x="566927" y="749808"/>
            <a:ext cx="11055098" cy="4688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job as RAG memory. Opposite architecture.</a:t>
            </a:r>
          </a:p>
        </p:txBody>
      </p:sp>
      <p:sp>
        <p:nvSpPr>
          <p:cNvPr id="286" name="Text 3"/>
          <p:cNvSpPr txBox="1"/>
          <p:nvPr/>
        </p:nvSpPr>
        <p:spPr>
          <a:xfrm>
            <a:off x="3767328" y="1970992"/>
            <a:ext cx="392734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2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TYPICAL RAG MEMORY</a:t>
            </a:r>
          </a:p>
        </p:txBody>
      </p:sp>
      <p:sp>
        <p:nvSpPr>
          <p:cNvPr id="287" name="Shape 4"/>
          <p:cNvSpPr/>
          <p:nvPr/>
        </p:nvSpPr>
        <p:spPr>
          <a:xfrm>
            <a:off x="7694676" y="1828800"/>
            <a:ext cx="3927348" cy="457200"/>
          </a:xfrm>
          <a:prstGeom prst="roundRect">
            <a:avLst>
              <a:gd name="adj" fmla="val 12000"/>
            </a:avLst>
          </a:prstGeom>
          <a:solidFill>
            <a:srgbClr val="1A1338"/>
          </a:solidFill>
          <a:ln w="1524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8" name="Text 5"/>
          <p:cNvSpPr txBox="1"/>
          <p:nvPr/>
        </p:nvSpPr>
        <p:spPr>
          <a:xfrm>
            <a:off x="7694676" y="1970992"/>
            <a:ext cx="392734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pc="1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</a:t>
            </a:r>
          </a:p>
        </p:txBody>
      </p:sp>
      <p:sp>
        <p:nvSpPr>
          <p:cNvPr id="289" name="Shape 6"/>
          <p:cNvSpPr/>
          <p:nvPr/>
        </p:nvSpPr>
        <p:spPr>
          <a:xfrm>
            <a:off x="566927" y="2377439"/>
            <a:ext cx="11055098" cy="658369"/>
          </a:xfrm>
          <a:prstGeom prst="rect">
            <a:avLst/>
          </a:prstGeom>
          <a:solidFill>
            <a:srgbClr val="1B15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7"/>
          <p:cNvSpPr txBox="1"/>
          <p:nvPr/>
        </p:nvSpPr>
        <p:spPr>
          <a:xfrm>
            <a:off x="749807" y="2620216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Where access is enforced</a:t>
            </a:r>
          </a:p>
        </p:txBody>
      </p:sp>
      <p:sp>
        <p:nvSpPr>
          <p:cNvPr id="291" name="Text 8"/>
          <p:cNvSpPr txBox="1"/>
          <p:nvPr/>
        </p:nvSpPr>
        <p:spPr>
          <a:xfrm>
            <a:off x="3904487" y="2628191"/>
            <a:ext cx="36530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App layer, after retrieval</a:t>
            </a:r>
          </a:p>
        </p:txBody>
      </p:sp>
      <p:sp>
        <p:nvSpPr>
          <p:cNvPr id="292" name="Text 9"/>
          <p:cNvSpPr txBox="1"/>
          <p:nvPr/>
        </p:nvSpPr>
        <p:spPr>
          <a:xfrm>
            <a:off x="7923276" y="2608397"/>
            <a:ext cx="356158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Retrieval layer, before ranking</a:t>
            </a:r>
          </a:p>
        </p:txBody>
      </p:sp>
      <p:sp>
        <p:nvSpPr>
          <p:cNvPr id="293" name="Text 10"/>
          <p:cNvSpPr txBox="1"/>
          <p:nvPr/>
        </p:nvSpPr>
        <p:spPr>
          <a:xfrm>
            <a:off x="749807" y="3278584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Who decides visibility</a:t>
            </a:r>
          </a:p>
        </p:txBody>
      </p:sp>
      <p:sp>
        <p:nvSpPr>
          <p:cNvPr id="294" name="Text 11"/>
          <p:cNvSpPr txBox="1"/>
          <p:nvPr/>
        </p:nvSpPr>
        <p:spPr>
          <a:xfrm>
            <a:off x="3904487" y="3286559"/>
            <a:ext cx="36530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The LLM ("only use allowed docs")</a:t>
            </a:r>
          </a:p>
        </p:txBody>
      </p:sp>
      <p:sp>
        <p:nvSpPr>
          <p:cNvPr id="295" name="Text 12"/>
          <p:cNvSpPr txBox="1"/>
          <p:nvPr/>
        </p:nvSpPr>
        <p:spPr>
          <a:xfrm>
            <a:off x="7923276" y="3266765"/>
            <a:ext cx="356158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Pure computation — 0 LLM calls</a:t>
            </a:r>
          </a:p>
        </p:txBody>
      </p:sp>
      <p:sp>
        <p:nvSpPr>
          <p:cNvPr id="296" name="Shape 13"/>
          <p:cNvSpPr/>
          <p:nvPr/>
        </p:nvSpPr>
        <p:spPr>
          <a:xfrm>
            <a:off x="566927" y="3694176"/>
            <a:ext cx="11055098" cy="658369"/>
          </a:xfrm>
          <a:prstGeom prst="rect">
            <a:avLst/>
          </a:prstGeom>
          <a:solidFill>
            <a:srgbClr val="1B15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Text 14"/>
          <p:cNvSpPr txBox="1"/>
          <p:nvPr/>
        </p:nvSpPr>
        <p:spPr>
          <a:xfrm>
            <a:off x="749807" y="3936952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Derived memory</a:t>
            </a:r>
          </a:p>
        </p:txBody>
      </p:sp>
      <p:sp>
        <p:nvSpPr>
          <p:cNvPr id="298" name="Text 15"/>
          <p:cNvSpPr txBox="1"/>
          <p:nvPr/>
        </p:nvSpPr>
        <p:spPr>
          <a:xfrm>
            <a:off x="3904487" y="3944927"/>
            <a:ext cx="36530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Inherits nothing; leaks the source</a:t>
            </a:r>
          </a:p>
        </p:txBody>
      </p:sp>
      <p:sp>
        <p:nvSpPr>
          <p:cNvPr id="299" name="Text 16"/>
          <p:cNvSpPr txBox="1"/>
          <p:nvPr/>
        </p:nvSpPr>
        <p:spPr>
          <a:xfrm>
            <a:off x="7923276" y="3925133"/>
            <a:ext cx="356158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Inherits source ACLs by lineage</a:t>
            </a:r>
          </a:p>
        </p:txBody>
      </p:sp>
      <p:sp>
        <p:nvSpPr>
          <p:cNvPr id="300" name="Text 17"/>
          <p:cNvSpPr txBox="1"/>
          <p:nvPr/>
        </p:nvSpPr>
        <p:spPr>
          <a:xfrm>
            <a:off x="749807" y="4595320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Revoking a source</a:t>
            </a:r>
          </a:p>
        </p:txBody>
      </p:sp>
      <p:sp>
        <p:nvSpPr>
          <p:cNvPr id="301" name="Text 18"/>
          <p:cNvSpPr txBox="1"/>
          <p:nvPr/>
        </p:nvSpPr>
        <p:spPr>
          <a:xfrm>
            <a:off x="3904487" y="4603295"/>
            <a:ext cx="36530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Hunt &amp; invalidate cached grants</a:t>
            </a:r>
          </a:p>
        </p:txBody>
      </p:sp>
      <p:sp>
        <p:nvSpPr>
          <p:cNvPr id="302" name="Text 19"/>
          <p:cNvSpPr txBox="1"/>
          <p:nvPr/>
        </p:nvSpPr>
        <p:spPr>
          <a:xfrm>
            <a:off x="7923276" y="4583501"/>
            <a:ext cx="356158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Nothing to invalidate — next read is ∅</a:t>
            </a:r>
          </a:p>
        </p:txBody>
      </p:sp>
      <p:sp>
        <p:nvSpPr>
          <p:cNvPr id="303" name="Shape 20"/>
          <p:cNvSpPr/>
          <p:nvPr/>
        </p:nvSpPr>
        <p:spPr>
          <a:xfrm>
            <a:off x="566927" y="5010911"/>
            <a:ext cx="11055098" cy="658369"/>
          </a:xfrm>
          <a:prstGeom prst="rect">
            <a:avLst/>
          </a:prstGeom>
          <a:solidFill>
            <a:srgbClr val="1B15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21"/>
          <p:cNvSpPr txBox="1"/>
          <p:nvPr/>
        </p:nvSpPr>
        <p:spPr>
          <a:xfrm>
            <a:off x="749807" y="5253688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Audit</a:t>
            </a:r>
          </a:p>
        </p:txBody>
      </p:sp>
      <p:sp>
        <p:nvSpPr>
          <p:cNvPr id="305" name="Text 22"/>
          <p:cNvSpPr txBox="1"/>
          <p:nvPr/>
        </p:nvSpPr>
        <p:spPr>
          <a:xfrm>
            <a:off x="3904487" y="5261663"/>
            <a:ext cx="36530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Ad-hoc, editable logs</a:t>
            </a:r>
          </a:p>
        </p:txBody>
      </p:sp>
      <p:sp>
        <p:nvSpPr>
          <p:cNvPr id="306" name="Text 23"/>
          <p:cNvSpPr txBox="1"/>
          <p:nvPr/>
        </p:nvSpPr>
        <p:spPr>
          <a:xfrm>
            <a:off x="7923276" y="5241869"/>
            <a:ext cx="356158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Hash-chained, tamper-evident, HCS-anchored</a:t>
            </a:r>
          </a:p>
        </p:txBody>
      </p:sp>
      <p:sp>
        <p:nvSpPr>
          <p:cNvPr id="307" name="Text 24"/>
          <p:cNvSpPr txBox="1"/>
          <p:nvPr/>
        </p:nvSpPr>
        <p:spPr>
          <a:xfrm>
            <a:off x="749807" y="5912056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Latency</a:t>
            </a:r>
          </a:p>
        </p:txBody>
      </p:sp>
      <p:sp>
        <p:nvSpPr>
          <p:cNvPr id="308" name="Text 25"/>
          <p:cNvSpPr txBox="1"/>
          <p:nvPr/>
        </p:nvSpPr>
        <p:spPr>
          <a:xfrm>
            <a:off x="3904487" y="5920031"/>
            <a:ext cx="365303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Varies — model in the loop</a:t>
            </a:r>
          </a:p>
        </p:txBody>
      </p:sp>
      <p:sp>
        <p:nvSpPr>
          <p:cNvPr id="309" name="Text 26"/>
          <p:cNvSpPr txBox="1"/>
          <p:nvPr/>
        </p:nvSpPr>
        <p:spPr>
          <a:xfrm>
            <a:off x="7923276" y="5900237"/>
            <a:ext cx="3561589" cy="196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34D399"/>
                </a:solidFill>
              </a:defRPr>
            </a:pPr>
            <a:r>
              <a:t>✓  </a:t>
            </a:r>
            <a:r>
              <a:rPr b="0">
                <a:solidFill>
                  <a:srgbClr val="F5F3FF"/>
                </a:solidFill>
              </a:rPr>
              <a:t>Sub-microsecond P99</a:t>
            </a:r>
          </a:p>
        </p:txBody>
      </p:sp>
      <p:sp>
        <p:nvSpPr>
          <p:cNvPr id="310" name="Shape 27"/>
          <p:cNvSpPr/>
          <p:nvPr/>
        </p:nvSpPr>
        <p:spPr>
          <a:xfrm>
            <a:off x="7694676" y="2377439"/>
            <a:ext cx="3927348" cy="3950210"/>
          </a:xfrm>
          <a:prstGeom prst="rect">
            <a:avLst/>
          </a:prstGeom>
          <a:ln w="1524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Text 28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312" name="Text 29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 txBox="1"/>
          <p:nvPr/>
        </p:nvSpPr>
        <p:spPr>
          <a:xfrm>
            <a:off x="566927" y="507952"/>
            <a:ext cx="11055098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IT MATTERS</a:t>
            </a:r>
          </a:p>
        </p:txBody>
      </p:sp>
      <p:sp>
        <p:nvSpPr>
          <p:cNvPr id="317" name="Text 1"/>
          <p:cNvSpPr txBox="1"/>
          <p:nvPr/>
        </p:nvSpPr>
        <p:spPr>
          <a:xfrm>
            <a:off x="566927" y="749808"/>
            <a:ext cx="11055098" cy="942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8000"/>
              </a:lnSpc>
              <a:defRPr b="1" sz="33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safety layer agents need before an enterprise can trust them.</a:t>
            </a:r>
          </a:p>
        </p:txBody>
      </p:sp>
      <p:sp>
        <p:nvSpPr>
          <p:cNvPr id="318" name="Shape 2"/>
          <p:cNvSpPr/>
          <p:nvPr/>
        </p:nvSpPr>
        <p:spPr>
          <a:xfrm>
            <a:off x="566927" y="1874520"/>
            <a:ext cx="2523746" cy="1874521"/>
          </a:xfrm>
          <a:prstGeom prst="roundRect">
            <a:avLst>
              <a:gd name="adj" fmla="val 439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9" name="Shape 3"/>
          <p:cNvSpPr/>
          <p:nvPr/>
        </p:nvSpPr>
        <p:spPr>
          <a:xfrm>
            <a:off x="841247" y="2221992"/>
            <a:ext cx="146305" cy="146305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4"/>
          <p:cNvSpPr txBox="1"/>
          <p:nvPr/>
        </p:nvSpPr>
        <p:spPr>
          <a:xfrm>
            <a:off x="1097280" y="2165879"/>
            <a:ext cx="1792224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Finance</a:t>
            </a:r>
          </a:p>
        </p:txBody>
      </p:sp>
      <p:sp>
        <p:nvSpPr>
          <p:cNvPr id="321" name="Text 5"/>
          <p:cNvSpPr txBox="1"/>
          <p:nvPr/>
        </p:nvSpPr>
        <p:spPr>
          <a:xfrm>
            <a:off x="841248" y="2813895"/>
            <a:ext cx="2020824" cy="55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Board decks, deal memos, MNPI — recall gated by who's asking, provably.</a:t>
            </a:r>
          </a:p>
        </p:txBody>
      </p:sp>
      <p:sp>
        <p:nvSpPr>
          <p:cNvPr id="322" name="Shape 6"/>
          <p:cNvSpPr/>
          <p:nvPr/>
        </p:nvSpPr>
        <p:spPr>
          <a:xfrm>
            <a:off x="3410711" y="1874520"/>
            <a:ext cx="2523745" cy="1874521"/>
          </a:xfrm>
          <a:prstGeom prst="roundRect">
            <a:avLst>
              <a:gd name="adj" fmla="val 439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" name="Shape 7"/>
          <p:cNvSpPr/>
          <p:nvPr/>
        </p:nvSpPr>
        <p:spPr>
          <a:xfrm>
            <a:off x="3685032" y="2221992"/>
            <a:ext cx="146305" cy="146305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8"/>
          <p:cNvSpPr txBox="1"/>
          <p:nvPr/>
        </p:nvSpPr>
        <p:spPr>
          <a:xfrm>
            <a:off x="3941064" y="2165879"/>
            <a:ext cx="1792225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Health</a:t>
            </a:r>
          </a:p>
        </p:txBody>
      </p:sp>
      <p:sp>
        <p:nvSpPr>
          <p:cNvPr id="325" name="Text 9"/>
          <p:cNvSpPr txBox="1"/>
          <p:nvPr/>
        </p:nvSpPr>
        <p:spPr>
          <a:xfrm>
            <a:off x="3685032" y="2813895"/>
            <a:ext cx="2020825" cy="55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Derived clinical notes that can't outlive the consent behind their sources.</a:t>
            </a:r>
          </a:p>
        </p:txBody>
      </p:sp>
      <p:sp>
        <p:nvSpPr>
          <p:cNvPr id="326" name="Shape 10"/>
          <p:cNvSpPr/>
          <p:nvPr/>
        </p:nvSpPr>
        <p:spPr>
          <a:xfrm>
            <a:off x="6254496" y="1874520"/>
            <a:ext cx="2523745" cy="1874521"/>
          </a:xfrm>
          <a:prstGeom prst="roundRect">
            <a:avLst>
              <a:gd name="adj" fmla="val 439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7" name="Shape 11"/>
          <p:cNvSpPr/>
          <p:nvPr/>
        </p:nvSpPr>
        <p:spPr>
          <a:xfrm>
            <a:off x="6528816" y="2221992"/>
            <a:ext cx="146305" cy="146305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2"/>
          <p:cNvSpPr txBox="1"/>
          <p:nvPr/>
        </p:nvSpPr>
        <p:spPr>
          <a:xfrm>
            <a:off x="6784847" y="2165879"/>
            <a:ext cx="1792225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Government</a:t>
            </a:r>
          </a:p>
        </p:txBody>
      </p:sp>
      <p:sp>
        <p:nvSpPr>
          <p:cNvPr id="329" name="Text 13"/>
          <p:cNvSpPr txBox="1"/>
          <p:nvPr/>
        </p:nvSpPr>
        <p:spPr>
          <a:xfrm>
            <a:off x="6528816" y="2913067"/>
            <a:ext cx="2020825" cy="355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Cleared material and audit trails a regulator will actually accept.</a:t>
            </a:r>
          </a:p>
        </p:txBody>
      </p:sp>
      <p:sp>
        <p:nvSpPr>
          <p:cNvPr id="330" name="Shape 14"/>
          <p:cNvSpPr/>
          <p:nvPr/>
        </p:nvSpPr>
        <p:spPr>
          <a:xfrm>
            <a:off x="9098280" y="1874520"/>
            <a:ext cx="2523745" cy="1874521"/>
          </a:xfrm>
          <a:prstGeom prst="roundRect">
            <a:avLst>
              <a:gd name="adj" fmla="val 4390"/>
            </a:avLst>
          </a:prstGeom>
          <a:solidFill>
            <a:srgbClr val="1B1533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1" name="Shape 15"/>
          <p:cNvSpPr/>
          <p:nvPr/>
        </p:nvSpPr>
        <p:spPr>
          <a:xfrm>
            <a:off x="9372599" y="2221992"/>
            <a:ext cx="146306" cy="146305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Text 16"/>
          <p:cNvSpPr txBox="1"/>
          <p:nvPr/>
        </p:nvSpPr>
        <p:spPr>
          <a:xfrm>
            <a:off x="9628631" y="2165879"/>
            <a:ext cx="1792225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Real-world assets</a:t>
            </a:r>
          </a:p>
        </p:txBody>
      </p:sp>
      <p:sp>
        <p:nvSpPr>
          <p:cNvPr id="333" name="Text 17"/>
          <p:cNvSpPr txBox="1"/>
          <p:nvPr/>
        </p:nvSpPr>
        <p:spPr>
          <a:xfrm>
            <a:off x="9372600" y="2813895"/>
            <a:ext cx="2020824" cy="553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04999"/>
              </a:lnSpc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Tokenised ownership &amp; disclosures — access computed, revocation instant.</a:t>
            </a:r>
          </a:p>
        </p:txBody>
      </p:sp>
      <p:sp>
        <p:nvSpPr>
          <p:cNvPr id="334" name="Shape 18"/>
          <p:cNvSpPr/>
          <p:nvPr/>
        </p:nvSpPr>
        <p:spPr>
          <a:xfrm>
            <a:off x="566927" y="4114800"/>
            <a:ext cx="11055097" cy="1417320"/>
          </a:xfrm>
          <a:prstGeom prst="roundRect">
            <a:avLst>
              <a:gd name="adj" fmla="val 5806"/>
            </a:avLst>
          </a:prstGeom>
          <a:solidFill>
            <a:srgbClr val="241C42"/>
          </a:solidFill>
          <a:ln w="12700">
            <a:solidFill>
              <a:srgbClr val="352B55"/>
            </a:solidFill>
          </a:ln>
          <a:effectLst>
            <a:outerShdw sx="100000" sy="100000" kx="0" ky="0" algn="b" rotWithShape="0" blurRad="114300" dist="38100" dir="5400000">
              <a:srgbClr val="000000">
                <a:alpha val="3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5" name="Text 19"/>
          <p:cNvSpPr txBox="1"/>
          <p:nvPr/>
        </p:nvSpPr>
        <p:spPr>
          <a:xfrm>
            <a:off x="886967" y="4366720"/>
            <a:ext cx="18288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200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NEXT</a:t>
            </a:r>
          </a:p>
        </p:txBody>
      </p:sp>
      <p:sp>
        <p:nvSpPr>
          <p:cNvPr id="336" name="Text 20"/>
          <p:cNvSpPr txBox="1"/>
          <p:nvPr/>
        </p:nvSpPr>
        <p:spPr>
          <a:xfrm>
            <a:off x="886967" y="4743056"/>
            <a:ext cx="319735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Engine → API + SDK</a:t>
            </a:r>
          </a:p>
        </p:txBody>
      </p:sp>
      <p:sp>
        <p:nvSpPr>
          <p:cNvPr id="337" name="Text 21"/>
          <p:cNvSpPr txBox="1"/>
          <p:nvPr/>
        </p:nvSpPr>
        <p:spPr>
          <a:xfrm>
            <a:off x="886967" y="5133647"/>
            <a:ext cx="319735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drop the gate in front of any store</a:t>
            </a:r>
          </a:p>
        </p:txBody>
      </p:sp>
      <p:sp>
        <p:nvSpPr>
          <p:cNvPr id="338" name="Text 22"/>
          <p:cNvSpPr txBox="1"/>
          <p:nvPr/>
        </p:nvSpPr>
        <p:spPr>
          <a:xfrm>
            <a:off x="4358640" y="4743056"/>
            <a:ext cx="3197353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Design-partner pilots</a:t>
            </a:r>
          </a:p>
        </p:txBody>
      </p:sp>
      <p:sp>
        <p:nvSpPr>
          <p:cNvPr id="339" name="Text 23"/>
          <p:cNvSpPr txBox="1"/>
          <p:nvPr/>
        </p:nvSpPr>
        <p:spPr>
          <a:xfrm>
            <a:off x="4358640" y="5133647"/>
            <a:ext cx="3197353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finance &amp; regulated data first</a:t>
            </a:r>
          </a:p>
        </p:txBody>
      </p:sp>
      <p:sp>
        <p:nvSpPr>
          <p:cNvPr id="340" name="Text 24"/>
          <p:cNvSpPr txBox="1"/>
          <p:nvPr/>
        </p:nvSpPr>
        <p:spPr>
          <a:xfrm>
            <a:off x="7830311" y="4743056"/>
            <a:ext cx="3197354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Connectors</a:t>
            </a:r>
          </a:p>
        </p:txBody>
      </p:sp>
      <p:sp>
        <p:nvSpPr>
          <p:cNvPr id="341" name="Text 25"/>
          <p:cNvSpPr txBox="1"/>
          <p:nvPr/>
        </p:nvSpPr>
        <p:spPr>
          <a:xfrm>
            <a:off x="7830311" y="5133647"/>
            <a:ext cx="319735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Mem0 · pgvector · Pinecone · ASI:One</a:t>
            </a:r>
          </a:p>
        </p:txBody>
      </p:sp>
      <p:sp>
        <p:nvSpPr>
          <p:cNvPr id="342" name="Text 26"/>
          <p:cNvSpPr txBox="1"/>
          <p:nvPr/>
        </p:nvSpPr>
        <p:spPr>
          <a:xfrm>
            <a:off x="566927" y="5896042"/>
            <a:ext cx="11055098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500">
                <a:solidFill>
                  <a:srgbClr val="C4B5FD"/>
                </a:solidFill>
              </a:defRPr>
            </a:lvl1pPr>
          </a:lstStyle>
          <a:p>
            <a:pPr/>
            <a:r>
              <a:t>Not a chatbot. Not a wrapper. A deterministic governance layer for agent memory.</a:t>
            </a:r>
          </a:p>
        </p:txBody>
      </p:sp>
      <p:sp>
        <p:nvSpPr>
          <p:cNvPr id="343" name="Text 27"/>
          <p:cNvSpPr txBox="1"/>
          <p:nvPr/>
        </p:nvSpPr>
        <p:spPr>
          <a:xfrm>
            <a:off x="566927" y="6524752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200"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344" name="Text 28"/>
          <p:cNvSpPr txBox="1"/>
          <p:nvPr/>
        </p:nvSpPr>
        <p:spPr>
          <a:xfrm>
            <a:off x="11073383" y="6524752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A79FC7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0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4809743" y="1234439"/>
            <a:ext cx="2560322" cy="2560321"/>
          </a:xfrm>
          <a:prstGeom prst="ellipse">
            <a:avLst/>
          </a:prstGeom>
          <a:ln w="30480">
            <a:solidFill>
              <a:srgbClr val="6D4AE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Shape 1"/>
          <p:cNvSpPr/>
          <p:nvPr/>
        </p:nvSpPr>
        <p:spPr>
          <a:xfrm>
            <a:off x="5168189" y="1592884"/>
            <a:ext cx="1843431" cy="1843432"/>
          </a:xfrm>
          <a:prstGeom prst="ellipse">
            <a:avLst/>
          </a:prstGeom>
          <a:ln w="3048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0" name="Shape 2"/>
          <p:cNvSpPr/>
          <p:nvPr/>
        </p:nvSpPr>
        <p:spPr>
          <a:xfrm>
            <a:off x="5526633" y="1951329"/>
            <a:ext cx="1126543" cy="1126543"/>
          </a:xfrm>
          <a:prstGeom prst="ellipse">
            <a:avLst/>
          </a:prstGeom>
          <a:ln w="25400">
            <a:solidFill>
              <a:srgbClr val="C4B5F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Shape 3"/>
          <p:cNvSpPr/>
          <p:nvPr/>
        </p:nvSpPr>
        <p:spPr>
          <a:xfrm>
            <a:off x="5859474" y="2284171"/>
            <a:ext cx="460859" cy="460859"/>
          </a:xfrm>
          <a:prstGeom prst="ellipse">
            <a:avLst/>
          </a:prstGeom>
          <a:solidFill>
            <a:srgbClr val="8B5CF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2" name="Text 4"/>
          <p:cNvSpPr txBox="1"/>
          <p:nvPr/>
        </p:nvSpPr>
        <p:spPr>
          <a:xfrm>
            <a:off x="-1" y="4057093"/>
            <a:ext cx="12188954" cy="481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400">
                <a:solidFill>
                  <a:srgbClr val="F5F3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Onion Loop Memory Guard</a:t>
            </a:r>
          </a:p>
        </p:txBody>
      </p:sp>
      <p:sp>
        <p:nvSpPr>
          <p:cNvPr id="353" name="Text 5"/>
          <p:cNvSpPr txBox="1"/>
          <p:nvPr/>
        </p:nvSpPr>
        <p:spPr>
          <a:xfrm>
            <a:off x="-1" y="4702636"/>
            <a:ext cx="12188954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>
                <a:solidFill>
                  <a:srgbClr val="C4B5FD"/>
                </a:solidFill>
              </a:defRPr>
            </a:pPr>
            <a:r>
              <a:t>Secure memory.  Deterministic access.  </a:t>
            </a:r>
            <a:r>
              <a:rPr b="1">
                <a:solidFill>
                  <a:srgbClr val="8B5CF6"/>
                </a:solidFill>
              </a:rPr>
              <a:t>Accountable AI.</a:t>
            </a:r>
          </a:p>
        </p:txBody>
      </p:sp>
      <p:sp>
        <p:nvSpPr>
          <p:cNvPr id="354" name="Shape 6"/>
          <p:cNvSpPr/>
          <p:nvPr/>
        </p:nvSpPr>
        <p:spPr>
          <a:xfrm>
            <a:off x="3351276" y="5257800"/>
            <a:ext cx="5486401" cy="548641"/>
          </a:xfrm>
          <a:prstGeom prst="roundRect">
            <a:avLst>
              <a:gd name="adj" fmla="val 50000"/>
            </a:avLst>
          </a:prstGeom>
          <a:solidFill>
            <a:srgbClr val="241C42"/>
          </a:solidFill>
          <a:ln w="15240">
            <a:solidFill>
              <a:srgbClr val="8B5CF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7"/>
          <p:cNvSpPr txBox="1"/>
          <p:nvPr/>
        </p:nvSpPr>
        <p:spPr>
          <a:xfrm>
            <a:off x="3351276" y="5427295"/>
            <a:ext cx="5486401" cy="20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300">
                <a:solidFill>
                  <a:srgbClr val="34D399"/>
                </a:solidFill>
              </a:defRPr>
            </a:pPr>
            <a:r>
              <a:t>▶ Live: </a:t>
            </a:r>
            <a:r>
              <a:rPr b="0">
                <a:solidFill>
                  <a:srgbClr val="F5F3FF"/>
                </a:solidFill>
              </a:rPr>
              <a:t>phoenicon.github.io/onion-loop-memory-guard</a:t>
            </a:r>
          </a:p>
        </p:txBody>
      </p:sp>
      <p:sp>
        <p:nvSpPr>
          <p:cNvPr id="356" name="Text 8"/>
          <p:cNvSpPr txBox="1"/>
          <p:nvPr/>
        </p:nvSpPr>
        <p:spPr>
          <a:xfrm>
            <a:off x="-1" y="6070907"/>
            <a:ext cx="12188954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A79FC7"/>
                </a:solidFill>
              </a:defRPr>
            </a:lvl1pPr>
          </a:lstStyle>
          <a:p>
            <a:pPr/>
            <a:r>
              <a:t>github.com/phoenicon/onion-loop-memory-guard      ·      “verify me, not trust me”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